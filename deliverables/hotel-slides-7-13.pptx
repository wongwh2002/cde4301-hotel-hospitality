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bf7528defb41a8" /><Relationship Type="http://schemas.openxmlformats.org/officeDocument/2006/relationships/extended-properties" Target="/docProps/app.xml" Id="R732a07d65b7c4934" /><Relationship Type="http://schemas.openxmlformats.org/officeDocument/2006/relationships/officeDocument" Target="/ppt/presentation.xml" Id="R6b2ec8a02a1842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8a4456748c4379"/>
  </p:sldMasterIdLst>
  <p:notesMasterIdLst>
    <p:notesMasterId xmlns:r="http://schemas.openxmlformats.org/officeDocument/2006/relationships" r:id="Rf4b6698e84484480"/>
  </p:notesMasterIdLst>
  <p:sldIdLst>
    <p:sldId xmlns:r="http://schemas.openxmlformats.org/officeDocument/2006/relationships" id="256" r:id="R408660fcc632410b"/>
    <p:sldId xmlns:r="http://schemas.openxmlformats.org/officeDocument/2006/relationships" id="257" r:id="R77ad90c409d948eb"/>
    <p:sldId xmlns:r="http://schemas.openxmlformats.org/officeDocument/2006/relationships" id="258" r:id="R3e7fb536b83545d5"/>
    <p:sldId xmlns:r="http://schemas.openxmlformats.org/officeDocument/2006/relationships" id="259" r:id="R2800d7cb5c6140e1"/>
    <p:sldId xmlns:r="http://schemas.openxmlformats.org/officeDocument/2006/relationships" id="260" r:id="Rea18ce2370794b9d"/>
    <p:sldId xmlns:r="http://schemas.openxmlformats.org/officeDocument/2006/relationships" id="261" r:id="R88ee1dadc3634b95"/>
    <p:sldId xmlns:r="http://schemas.openxmlformats.org/officeDocument/2006/relationships" id="262" r:id="Rdeb7b7b2e1564f18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c4e32e75844a2c" /><Relationship Type="http://schemas.openxmlformats.org/officeDocument/2006/relationships/slideMaster" Target="/ppt/slideMasters/slideMaster1.xml" Id="Rce8a4456748c4379" /><Relationship Type="http://schemas.openxmlformats.org/officeDocument/2006/relationships/notesMaster" Target="/ppt/notesMasters/notesMaster1.xml" Id="Rf4b6698e84484480" /><Relationship Type="http://schemas.openxmlformats.org/officeDocument/2006/relationships/presProps" Target="/ppt/presProps.xml" Id="R14d16250560345ca" /><Relationship Type="http://schemas.openxmlformats.org/officeDocument/2006/relationships/tableStyles" Target="/ppt/tableStyles.xml" Id="Rbafefa92cc4f4a1a" /><Relationship Type="http://schemas.openxmlformats.org/officeDocument/2006/relationships/slide" Target="/ppt/slides/slide1.xml" Id="R408660fcc632410b" /><Relationship Type="http://schemas.openxmlformats.org/officeDocument/2006/relationships/slide" Target="/ppt/slides/slide2.xml" Id="R77ad90c409d948eb" /><Relationship Type="http://schemas.openxmlformats.org/officeDocument/2006/relationships/slide" Target="/ppt/slides/slide3.xml" Id="R3e7fb536b83545d5" /><Relationship Type="http://schemas.openxmlformats.org/officeDocument/2006/relationships/slide" Target="/ppt/slides/slide4.xml" Id="R2800d7cb5c6140e1" /><Relationship Type="http://schemas.openxmlformats.org/officeDocument/2006/relationships/slide" Target="/ppt/slides/slide5.xml" Id="Rea18ce2370794b9d" /><Relationship Type="http://schemas.openxmlformats.org/officeDocument/2006/relationships/slide" Target="/ppt/slides/slide6.xml" Id="R88ee1dadc3634b95" /><Relationship Type="http://schemas.openxmlformats.org/officeDocument/2006/relationships/slide" Target="/ppt/slides/slide7.xml" Id="Rdeb7b7b2e1564f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8569387f9940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cdd6e50c334097" /><Relationship Type="http://schemas.openxmlformats.org/officeDocument/2006/relationships/notesMaster" Target="/ppt/notesMasters/notesMaster1.xml" Id="Rf97137a27b474d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03d192704c46a7" /><Relationship Type="http://schemas.openxmlformats.org/officeDocument/2006/relationships/notesMaster" Target="/ppt/notesMasters/notesMaster1.xml" Id="Rc0905eaec7e646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8e2b20fe5b485c" /><Relationship Type="http://schemas.openxmlformats.org/officeDocument/2006/relationships/notesMaster" Target="/ppt/notesMasters/notesMaster1.xml" Id="Rbb0dfaeb4d304a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0880f3dc354a78" /><Relationship Type="http://schemas.openxmlformats.org/officeDocument/2006/relationships/notesMaster" Target="/ppt/notesMasters/notesMaster1.xml" Id="R03ab3740c8d54a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334ee8367745a7" /><Relationship Type="http://schemas.openxmlformats.org/officeDocument/2006/relationships/notesMaster" Target="/ppt/notesMasters/notesMaster1.xml" Id="R7892546e59d345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367136997641a2" /><Relationship Type="http://schemas.openxmlformats.org/officeDocument/2006/relationships/notesMaster" Target="/ppt/notesMasters/notesMaster1.xml" Id="R86227df334b340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295b8273244482" /><Relationship Type="http://schemas.openxmlformats.org/officeDocument/2006/relationships/notesMaster" Target="/ppt/notesMasters/notesMaster1.xml" Id="R0868b53a666e4a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compact morphological chart, not as proof that one combination is best. The selected bundle is a candidate for the next slide. Face matching is an optional guest-association method, not the method for capturing the preference itself. Staff-triggered capture and guest/stay selection are proposed additions. Internal references: docs/reporting/hotel_presentation_outline.md; docs/agents/hotel-smart-glasses-poc.md; docs/architecture/hotel-lounge-smart-glasses-poc.md.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Commercial capabilities are drawn from vendor documentation and are not independent performance evaluations. Oracle OPERA Cloud profile notes: https://docs.oracle.com/en/industries/hospitality/opera-cloud/26.4/ocsuh/t_create_manage_adding_notes_to_a_profile.htm ; mobile profiles: https://docs.oracle.com/en/industries/hospitality/opera-cloud/26.1/ocsuh/t_managing_profiles_mobile_app_pwa.htm . hotelkit: https://hotelkit.net/products/collaboration/ . Alliants Core Platform: https://www.alliants.com/products/core-platform . SoftServe Hands-Free Face ID demo: https://www.softserveinc.com/en-us/resources/hands-free-face-id-demo . Prices are not comparable in the reviewed public material. Selection is a candidate for evaluation, not a validated winner.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oat-milk line is a synthetic example, not a claim about a real guest or a validated PARKROYAL preference. Ask the partner which guest-approved detail staff can act on in the lounge and share across roles. Project glossary separates service preferences from allergies. Allergy details require authoritative verification; do not let a face match be the sole safety basis.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steps describe the proposed service journey. The main hotel POC and standalone Rokid demo are separate systems. Main POC: simulated taps/active lounge cohort, synthetic records, matching and cue path. Rokid README: local gallery matching and name/status, not preference capture or profile integration. Make those boundaries visible in the spoken explanation and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an extension proposal, not an adopted or fully integrated architecture. Current proposal references: docs/agents/hotel-smart-glasses-poc.md and docs/architecture/hotel-lounge-smart-glasses-poc.md. Add a phone form that writes only after staff checks the text and selects the guest/stay. The mock-hotel API can store the stay-scoped note; lounge-control can retrieve the permitted note for a later cue. Keep write-time guest/stay association separate from read-time face matching. The standalone Rokid demo does not use this profile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Metrics from rokid/README.md: 30 capture requests; mean capture-request-to-response 944 ms; p95 1,114 ms; only 11 samples contained a face. Reported mean breakdown: capture/JPEG 637 ms; upload/server/response 307 ms; server face processing 69 ms (inside the latter interval). The timing excludes waiting for the next two-second capture and physical display rendering. This standalone demo does not test preference capture, the main hotel POC, or service effectiveness. Do not call it end-to-end latency.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screens are proposed mock-ups, not user-tested interfaces. The detail is synthetic. Google Glass Enterprise design guidance recommends glanceable, timely, simple information that supplements other devices: https://developers.google.com/glass-enterprise/guides/design-guidelines . Lewis &amp; Neider (2016) found that even a single word on Google Glass disrupted concurrent laboratory visual-search tasks; this is a reason to measure interruption, not proof that hotel service will be disrupted: https://link.springer.com/article/10.1186/s41235-016-0015-6 . W3C advises against using color as the sole information cue: https://www.w3.org/WAI/WCAG21/Understanding/use-of-color.html . Allergy information must be verified through the authorised hotel source and established food-safety process.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b77002636148a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ab0489d608465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f2fd829d3e439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d8006f72ea496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ee8bb434674a4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7c32c841984d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1640635-5534-4E11-9C89-57C9D5C4A3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E0B14AE-1657-408C-A68B-ED4E1976361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8DF421B-3FE2-4476-B8DC-0532EFB0EB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D12672-026F-4E86-B1BF-8A02EF1C95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EC1879F-454D-4B30-B345-1DA27D4AC9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8C63CB1-F348-4155-A9F9-B885743AFC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F7ACCD9-9C28-44D8-82DE-BB3F80D6AA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B6680E1-9917-458E-A619-873E46D6697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F9C3B3-6B21-4630-A02C-CAB66C31C6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44703E3-7327-4B3F-B6C1-E083245D20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b14d85930648b4" /><Relationship Type="http://schemas.openxmlformats.org/officeDocument/2006/relationships/slideLayout" Target="/ppt/slideLayouts/slideLayout1.xml" Id="Rd7c6863325a84653" /><Relationship Type="http://schemas.openxmlformats.org/officeDocument/2006/relationships/slideLayout" Target="/ppt/slideLayouts/slideLayout2.xml" Id="Rdd2b651b08fe46a1" /><Relationship Type="http://schemas.openxmlformats.org/officeDocument/2006/relationships/slideLayout" Target="/ppt/slideLayouts/slideLayout3.xml" Id="Rf1040adfd5544adb" /><Relationship Type="http://schemas.openxmlformats.org/officeDocument/2006/relationships/slideLayout" Target="/ppt/slideLayouts/slideLayout4.xml" Id="R1cbe848f32a8442b" /><Relationship Type="http://schemas.openxmlformats.org/officeDocument/2006/relationships/slideLayout" Target="/ppt/slideLayouts/slideLayout5.xml" Id="R03571d12f06140db" /><Relationship Type="http://schemas.openxmlformats.org/officeDocument/2006/relationships/slideLayout" Target="/ppt/slideLayouts/slideLayout6.xml" Id="Rb106029ece9d41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c6863325a84653"/>
    <p:sldLayoutId xmlns:r="http://schemas.openxmlformats.org/officeDocument/2006/relationships" id="2147483650" r:id="Rdd2b651b08fe46a1"/>
    <p:sldLayoutId xmlns:r="http://schemas.openxmlformats.org/officeDocument/2006/relationships" id="2147483651" r:id="Rf1040adfd5544adb"/>
    <p:sldLayoutId xmlns:r="http://schemas.openxmlformats.org/officeDocument/2006/relationships" id="2147483652" r:id="R1cbe848f32a8442b"/>
    <p:sldLayoutId xmlns:r="http://schemas.openxmlformats.org/officeDocument/2006/relationships" id="2147483653" r:id="R03571d12f06140db"/>
    <p:sldLayoutId xmlns:r="http://schemas.openxmlformats.org/officeDocument/2006/relationships" id="2147483654" r:id="Rb106029ece9d41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24fd0ff0bb413d" /><Relationship Type="http://schemas.openxmlformats.org/officeDocument/2006/relationships/notesSlide" Target="/ppt/notesSlides/notesSlide1.xml" Id="R44c82fa23b204d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457fcf177845ce" /><Relationship Type="http://schemas.openxmlformats.org/officeDocument/2006/relationships/notesSlide" Target="/ppt/notesSlides/notesSlide2.xml" Id="R457fb8f9551c44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54bc7e3fb84e5e" /><Relationship Type="http://schemas.openxmlformats.org/officeDocument/2006/relationships/notesSlide" Target="/ppt/notesSlides/notesSlide3.xml" Id="R9eff6d6bce264f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be9e3ad5f8416e" /><Relationship Type="http://schemas.openxmlformats.org/officeDocument/2006/relationships/notesSlide" Target="/ppt/notesSlides/notesSlide4.xml" Id="R53885f7690994a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ea7b0575f24d89" /><Relationship Type="http://schemas.openxmlformats.org/officeDocument/2006/relationships/notesSlide" Target="/ppt/notesSlides/notesSlide5.xml" Id="R96c67834e7b24d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416492f847458a" /><Relationship Type="http://schemas.openxmlformats.org/officeDocument/2006/relationships/notesSlide" Target="/ppt/notesSlides/notesSlide6.xml" Id="R2a3bbc3436cd44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54c461743845c6" /><Relationship Type="http://schemas.openxmlformats.org/officeDocument/2006/relationships/notesSlide" Target="/ppt/notesSlides/notesSlide7.xml" Id="R2d6da641261e4f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4A102FBC-7BAB-4D7B-A060-32BE50A5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"/>
            <a:ext cx="1638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rPr>
              <a:t>CONCEPT OPTIONS BY FUNCTION</a:t>
            </a:r>
          </a:p>
        </p:txBody>
      </p:sp>
      <p:sp>
        <p:nvSpPr>
          <p:cNvPr id="2" name="slide-7-subtitle">
            <a:extLst xmlns:a="http://schemas.openxmlformats.org/drawingml/2006/main">
              <a:ext uri="{FF2B5EF4-FFF2-40B4-BE49-F238E27FC236}">
                <a16:creationId xmlns:a16="http://schemas.microsoft.com/office/drawing/2014/main" id="{52A43FE6-C4E0-4E1D-964E-07BA8FF9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23975"/>
            <a:ext cx="1543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rPr>
              <a:t>Break the service problem into functions before choosing a device.</a:t>
            </a:r>
          </a:p>
        </p:txBody>
      </p:sp>
      <p:sp>
        <p:nvSpPr>
          <p:cNvPr id="3" name="slide-7-footer-rule">
            <a:extLst xmlns:a="http://schemas.openxmlformats.org/drawingml/2006/main">
              <a:ext uri="{FF2B5EF4-FFF2-40B4-BE49-F238E27FC236}">
                <a16:creationId xmlns:a16="http://schemas.microsoft.com/office/drawing/2014/main" id="{D25B43EC-013C-491F-A2B3-3436E68F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686925"/>
            <a:ext cx="1657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7"/>
          </a:solidFill>
          <a:ln xmlns:a="http://schemas.openxmlformats.org/drawingml/2006/main" w="0">
            <a:solidFill>
              <a:srgbClr val="D7DDE7"/>
            </a:solidFill>
            <a:prstDash val="solid"/>
          </a:ln>
        </p:spPr>
      </p:sp>
      <p:sp>
        <p:nvSpPr>
          <p:cNvPr id="4" name="slide-7-footer">
            <a:extLst xmlns:a="http://schemas.openxmlformats.org/drawingml/2006/main">
              <a:ext uri="{FF2B5EF4-FFF2-40B4-BE49-F238E27FC236}">
                <a16:creationId xmlns:a16="http://schemas.microsoft.com/office/drawing/2014/main" id="{6630E664-9FC1-4F88-9EB8-78848737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536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rPr>
              <a:t>CDE4301  |  HOTEL PERSONALISATION</a:t>
            </a:r>
          </a:p>
        </p:txBody>
      </p:sp>
      <p:sp>
        <p:nvSpPr>
          <p:cNvPr id="5" name="slide-7-page">
            <a:extLst xmlns:a="http://schemas.openxmlformats.org/drawingml/2006/main">
              <a:ext uri="{FF2B5EF4-FFF2-40B4-BE49-F238E27FC236}">
                <a16:creationId xmlns:a16="http://schemas.microsoft.com/office/drawing/2014/main" id="{105548BF-39E6-4F68-9CDF-C9B1422D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75360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697EEC-5BEF-4F24-9822-2710EE6347BB}"/>
              </a:ext>
            </a:extLst>
          </p:cNvPr>
          <p:cNvGraphicFramePr/>
          <p:nvPr/>
        </p:nvGraphicFramePr>
        <p:xfrm>
          <a:off xmlns:a="http://schemas.openxmlformats.org/drawingml/2006/main" x="1047750" y="2143125"/>
          <a:ext xmlns:a="http://schemas.openxmlformats.org/drawingml/2006/main" cx="16192500" cy="638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4429125"/>
                <a:gridCol w="4572000"/>
                <a:gridCol w="4476750"/>
              </a:tblGrid>
              <a:tr h="1063625">
                <a:tc>
                  <a:txBody>
                    <a:bodyPr wrap="square" lIns="114300" tIns="66675" rIns="95250" bIns="66675">
                      <a:norm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FUNCTION</a:t>
                      </a:r>
                    </a:p>
                  </a:txBody>
                  <a:tcPr marL="91440" marR="91440" marT="45720" marB="45720" anchor="ctr">
                    <a:lnL w="14288">
                      <a:solidFill>
                        <a:srgbClr val="D7DDE7"/>
                      </a:solidFill>
                      <a:prstDash val="solid"/>
                    </a:lnL>
                    <a:lnR w="14288">
                      <a:solidFill>
                        <a:srgbClr val="D7DDE7"/>
                      </a:solidFill>
                      <a:prstDash val="solid"/>
                    </a:lnR>
                    <a:lnT w="14288">
                      <a:solidFill>
                        <a:srgbClr val="D7DDE7"/>
                      </a:solidFill>
                      <a:prstDash val="solid"/>
                    </a:lnT>
                    <a:lnB w="14288">
                      <a:solidFill>
                        <a:srgbClr val="D7DDE7"/>
                      </a:solidFill>
                      <a:prstDash val="solid"/>
                    </a:lnB>
                    <a:solidFill>
                      <a:srgbClr val="2453A6"/>
                    </a:solidFill>
                  </a:tcPr>
                </a:tc>
                <a:tc>
                  <a:txBody>
                    <a:bodyPr wrap="square" lIns="114300" tIns="66675" rIns="95250" bIns="66675">
                      <a:norm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OPTION A · STAFF-LED</a:t>
                      </a:r>
                    </a:p>
                  </a:txBody>
                  <a:tcPr marL="91440" marR="91440" marT="45720" marB="45720" anchor="ctr">
                    <a:lnR w="14288">
                      <a:solidFill>
                        <a:srgbClr val="D7DDE7"/>
                      </a:solidFill>
                      <a:prstDash val="solid"/>
                    </a:lnR>
                    <a:lnT w="14288">
                      <a:solidFill>
                        <a:srgbClr val="D7DDE7"/>
                      </a:solidFill>
                      <a:prstDash val="solid"/>
                    </a:lnT>
                    <a:lnB w="14288">
                      <a:solidFill>
                        <a:srgbClr val="D7DDE7"/>
                      </a:solidFill>
                      <a:prstDash val="solid"/>
                    </a:lnB>
                    <a:solidFill>
                      <a:srgbClr val="2453A6"/>
                    </a:solidFill>
                  </a:tcPr>
                </a:tc>
                <a:tc>
                  <a:txBody>
                    <a:bodyPr wrap="square" lIns="114300" tIns="66675" rIns="95250" bIns="66675">
                      <a:norm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OPTION B · SHARED RECORD</a:t>
                      </a:r>
                    </a:p>
                  </a:txBody>
                  <a:tcPr marL="91440" marR="91440" marT="45720" marB="45720" anchor="ctr">
                    <a:lnR w="14288">
                      <a:solidFill>
                        <a:srgbClr val="D7DDE7"/>
                      </a:solidFill>
                      <a:prstDash val="solid"/>
                    </a:lnR>
                    <a:lnT w="14288">
                      <a:solidFill>
                        <a:srgbClr val="D7DDE7"/>
                      </a:solidFill>
                      <a:prstDash val="solid"/>
                    </a:lnT>
                    <a:lnB w="14288">
                      <a:solidFill>
                        <a:srgbClr val="D7DDE7"/>
                      </a:solidFill>
                      <a:prstDash val="solid"/>
                    </a:lnB>
                    <a:solidFill>
                      <a:srgbClr val="2453A6"/>
                    </a:solidFill>
                  </a:tcPr>
                </a:tc>
                <a:tc>
                  <a:txBody>
                    <a:bodyPr wrap="square" lIns="114300" tIns="66675" rIns="95250" bIns="66675">
                      <a:norm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OPTION C · HANDS-FREE</a:t>
                      </a:r>
                    </a:p>
                  </a:txBody>
                  <a:tcPr marL="91440" marR="91440" marT="45720" marB="45720" anchor="ctr">
                    <a:lnR w="14288">
                      <a:solidFill>
                        <a:srgbClr val="D7DDE7"/>
                      </a:solidFill>
                      <a:prstDash val="solid"/>
                    </a:lnR>
                    <a:lnT w="14288">
                      <a:solidFill>
                        <a:srgbClr val="D7DDE7"/>
                      </a:solidFill>
                      <a:prstDash val="solid"/>
                    </a:lnT>
                    <a:lnB w="14288">
                      <a:solidFill>
                        <a:srgbClr val="D7DDE7"/>
                      </a:solidFill>
                      <a:prstDash val="solid"/>
                    </a:lnB>
                    <a:solidFill>
                      <a:srgbClr val="2453A6"/>
                    </a:solidFill>
                  </a:tcPr>
                </a:tc>
              </a:tr>
              <a:tr h="1063625">
                <a:tc>
                  <a:txBody>
                    <a:bodyPr wrap="square" lIns="114300" tIns="66675" rIns="95250" bIns="66675"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93F8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Capture a detail</a:t>
                      </a:r>
                    </a:p>
                  </a:txBody>
                  <a:tcPr marL="91440" marR="91440" marT="45720" marB="45720" anchor="ctr">
                    <a:lnL w="14288">
                      <a:solidFill>
                        <a:srgbClr val="D7DDE7"/>
                      </a:solidFill>
                      <a:prstDash val="solid"/>
                    </a:lnL>
                    <a:lnR w="14288">
                      <a:solidFill>
                        <a:srgbClr val="D7DDE7"/>
                      </a:solidFill>
                      <a:prstDash val="solid"/>
                    </a:lnR>
                    <a:lnB w="14288">
                      <a:solidFill>
                        <a:srgbClr val="D7DD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66675" rIns="95250" bIns="66675">
                      <a:norm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634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Staff types a short note after the conversation</a:t>
                      </a:r>
                    </a:p>
                  </a:txBody>
                  <a:tcPr marL="91440" marR="91440" marT="45720" marB="45720" anchor="ctr">
                    <a:lnR w="14288">
                      <a:solidFill>
                        <a:srgbClr val="D7DDE7"/>
                      </a:solidFill>
                      <a:prstDash val="solid"/>
                    </a:lnR>
                    <a:lnB w="14288">
                      <a:solidFill>
                        <a:srgbClr val="D7DD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66675" rIns="95250" bIns="66675">
                      <a:norm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634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Staff dictates, then reviews the transcript</a:t>
                      </a:r>
                    </a:p>
                  </a:txBody>
                  <a:tcPr marL="91440" marR="91440" marT="45720" marB="45720" anchor="ctr">
                    <a:lnR w="14288">
                      <a:solidFill>
                        <a:srgbClr val="D7DDE7"/>
                      </a:solidFill>
                      <a:prstDash val="solid"/>
                    </a:lnR>
                    <a:lnB w="14288">
                      <a:solidFill>
                        <a:srgbClr val="D7DD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66675" rIns="95250" bIns="66675">
                      <a:norm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634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Guest completes a short form or QR prompt</a:t>
                      </a:r>
                    </a:p>
                  </a:txBody>
                  <a:tcPr marL="91440" marR="91440" marT="45720" marB="45720" anchor="ctr">
                    <a:lnR w="14288">
                      <a:solidFill>
                        <a:srgbClr val="D7DDE7"/>
                      </a:solidFill>
                      <a:prstDash val="solid"/>
                    </a:lnR>
                    <a:lnB w="14288">
                      <a:solidFill>
                        <a:srgbClr val="D7DD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63625">
                <a:tc>
                  <a:txBody>
                    <a:bodyPr wrap="square" lIns="114300" tIns="66675" rIns="95250" bIns="66675"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93F8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Link it to the stay</a:t>
                      </a:r>
                    </a:p>
                  </a:txBody>
                  <a:tcPr marL="91440" marR="91440" marT="45720" marB="45720" anchor="ctr">
                    <a:lnL w="14288">
                      <a:solidFill>
                        <a:srgbClr val="D7DDE7"/>
                      </a:solidFill>
                      <a:prstDash val="solid"/>
                    </a:lnL>
                    <a:lnR w="14288">
                      <a:solidFill>
                        <a:srgbClr val="D7DDE7"/>
                      </a:solidFill>
                      <a:prstDash val="solid"/>
                    </a:lnR>
                    <a:lnB w="14288">
                      <a:solidFill>
                        <a:srgbClr val="D7DD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66675" rIns="95250" bIns="66675">
                      <a:norm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634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Staff selects the guest and current stay</a:t>
                      </a:r>
                    </a:p>
                  </a:txBody>
                  <a:tcPr marL="91440" marR="91440" marT="45720" marB="45720" anchor="ctr">
                    <a:lnR w="14288">
                      <a:solidFill>
                        <a:srgbClr val="D7DDE7"/>
                      </a:solidFill>
                      <a:prstDash val="solid"/>
                    </a:lnR>
                    <a:lnB w="14288">
                      <a:solidFill>
                        <a:srgbClr val="D7DD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66675" rIns="95250" bIns="66675">
                      <a:norm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634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 lounge entry event supplies the stay context</a:t>
                      </a:r>
                    </a:p>
                  </a:txBody>
                  <a:tcPr marL="91440" marR="91440" marT="45720" marB="45720" anchor="ctr">
                    <a:lnR w="14288">
                      <a:solidFill>
                        <a:srgbClr val="D7DDE7"/>
                      </a:solidFill>
                      <a:prstDash val="solid"/>
                    </a:lnR>
                    <a:lnB w="14288">
                      <a:solidFill>
                        <a:srgbClr val="D7DD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66675" rIns="95250" bIns="66675">
                      <a:norm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634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Face match against the active lounge cohort (test hypothesis)</a:t>
                      </a:r>
                    </a:p>
                  </a:txBody>
                  <a:tcPr marL="91440" marR="91440" marT="45720" marB="45720" anchor="ctr">
                    <a:lnR w="14288">
                      <a:solidFill>
                        <a:srgbClr val="D7DDE7"/>
                      </a:solidFill>
                      <a:prstDash val="solid"/>
                    </a:lnR>
                    <a:lnB w="14288">
                      <a:solidFill>
                        <a:srgbClr val="D7DD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63625">
                <a:tc>
                  <a:txBody>
                    <a:bodyPr wrap="square" lIns="114300" tIns="66675" rIns="95250" bIns="66675"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93F8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Store and share</a:t>
                      </a:r>
                    </a:p>
                  </a:txBody>
                  <a:tcPr marL="91440" marR="91440" marT="45720" marB="45720" anchor="ctr">
                    <a:lnL w="14288">
                      <a:solidFill>
                        <a:srgbClr val="D7DDE7"/>
                      </a:solidFill>
                      <a:prstDash val="solid"/>
                    </a:lnL>
                    <a:lnR w="14288">
                      <a:solidFill>
                        <a:srgbClr val="D7DDE7"/>
                      </a:solidFill>
                      <a:prstDash val="solid"/>
                    </a:lnR>
                    <a:lnB w="14288">
                      <a:solidFill>
                        <a:srgbClr val="D7DD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66675" rIns="95250" bIns="66675">
                      <a:norm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634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Existing authorised profile note</a:t>
                      </a:r>
                    </a:p>
                  </a:txBody>
                  <a:tcPr marL="91440" marR="91440" marT="45720" marB="45720" anchor="ctr">
                    <a:lnR w="14288">
                      <a:solidFill>
                        <a:srgbClr val="D7DDE7"/>
                      </a:solidFill>
                      <a:prstDash val="solid"/>
                    </a:lnR>
                    <a:lnB w="14288">
                      <a:solidFill>
                        <a:srgbClr val="D7DD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66675" rIns="95250" bIns="66675">
                      <a:norm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634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Stay-scoped note with source, time and expiry</a:t>
                      </a:r>
                    </a:p>
                  </a:txBody>
                  <a:tcPr marL="91440" marR="91440" marT="45720" marB="45720" anchor="ctr">
                    <a:lnR w="14288">
                      <a:solidFill>
                        <a:srgbClr val="D7DDE7"/>
                      </a:solidFill>
                      <a:prstDash val="solid"/>
                    </a:lnR>
                    <a:lnB w="14288">
                      <a:solidFill>
                        <a:srgbClr val="D7DD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66675" rIns="95250" bIns="66675">
                      <a:norm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634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Digital handover or guest-service tool</a:t>
                      </a:r>
                    </a:p>
                  </a:txBody>
                  <a:tcPr marL="91440" marR="91440" marT="45720" marB="45720" anchor="ctr">
                    <a:lnR w="14288">
                      <a:solidFill>
                        <a:srgbClr val="D7DDE7"/>
                      </a:solidFill>
                      <a:prstDash val="solid"/>
                    </a:lnR>
                    <a:lnB w="14288">
                      <a:solidFill>
                        <a:srgbClr val="D7DD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63625">
                <a:tc>
                  <a:txBody>
                    <a:bodyPr wrap="square" lIns="114300" tIns="66675" rIns="95250" bIns="66675"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93F8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Retrieve it later</a:t>
                      </a:r>
                    </a:p>
                  </a:txBody>
                  <a:tcPr marL="91440" marR="91440" marT="45720" marB="45720" anchor="ctr">
                    <a:lnL w="14288">
                      <a:solidFill>
                        <a:srgbClr val="D7DDE7"/>
                      </a:solidFill>
                      <a:prstDash val="solid"/>
                    </a:lnL>
                    <a:lnR w="14288">
                      <a:solidFill>
                        <a:srgbClr val="D7DDE7"/>
                      </a:solidFill>
                      <a:prstDash val="solid"/>
                    </a:lnR>
                    <a:lnB w="14288">
                      <a:solidFill>
                        <a:srgbClr val="D7DD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66675" rIns="95250" bIns="66675">
                      <a:norm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634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Search on a staff phone or tablet</a:t>
                      </a:r>
                    </a:p>
                  </a:txBody>
                  <a:tcPr marL="91440" marR="91440" marT="45720" marB="45720" anchor="ctr">
                    <a:lnR w="14288">
                      <a:solidFill>
                        <a:srgbClr val="D7DDE7"/>
                      </a:solidFill>
                      <a:prstDash val="solid"/>
                    </a:lnR>
                    <a:lnB w="14288">
                      <a:solidFill>
                        <a:srgbClr val="D7DD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66675" rIns="95250" bIns="66675">
                      <a:norm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634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Notify the next relevant role</a:t>
                      </a:r>
                    </a:p>
                  </a:txBody>
                  <a:tcPr marL="91440" marR="91440" marT="45720" marB="45720" anchor="ctr">
                    <a:lnR w="14288">
                      <a:solidFill>
                        <a:srgbClr val="D7DDE7"/>
                      </a:solidFill>
                      <a:prstDash val="solid"/>
                    </a:lnR>
                    <a:lnB w="14288">
                      <a:solidFill>
                        <a:srgbClr val="D7DD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66675" rIns="95250" bIns="66675">
                      <a:norm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634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Show one brief glasses cue at the service moment</a:t>
                      </a:r>
                    </a:p>
                  </a:txBody>
                  <a:tcPr marL="91440" marR="91440" marT="45720" marB="45720" anchor="ctr">
                    <a:lnR w="14288">
                      <a:solidFill>
                        <a:srgbClr val="D7DDE7"/>
                      </a:solidFill>
                      <a:prstDash val="solid"/>
                    </a:lnR>
                    <a:lnB w="14288">
                      <a:solidFill>
                        <a:srgbClr val="D7DD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63625">
                <a:tc>
                  <a:txBody>
                    <a:bodyPr wrap="square" lIns="114300" tIns="66675" rIns="95250" bIns="66675">
                      <a:norm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93F8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Check and clear</a:t>
                      </a:r>
                    </a:p>
                  </a:txBody>
                  <a:tcPr marL="91440" marR="91440" marT="45720" marB="45720" anchor="ctr">
                    <a:lnL w="14288">
                      <a:solidFill>
                        <a:srgbClr val="D7DDE7"/>
                      </a:solidFill>
                      <a:prstDash val="solid"/>
                    </a:lnL>
                    <a:lnR w="14288">
                      <a:solidFill>
                        <a:srgbClr val="D7DDE7"/>
                      </a:solidFill>
                      <a:prstDash val="solid"/>
                    </a:lnR>
                    <a:lnB w="14288">
                      <a:solidFill>
                        <a:srgbClr val="D7DD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66675" rIns="95250" bIns="66675">
                      <a:norm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634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Staff can edit; guest can decline</a:t>
                      </a:r>
                    </a:p>
                  </a:txBody>
                  <a:tcPr marL="91440" marR="91440" marT="45720" marB="45720" anchor="ctr">
                    <a:lnR w="14288">
                      <a:solidFill>
                        <a:srgbClr val="D7DDE7"/>
                      </a:solidFill>
                      <a:prstDash val="solid"/>
                    </a:lnR>
                    <a:lnB w="14288">
                      <a:solidFill>
                        <a:srgbClr val="D7DD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66675" rIns="95250" bIns="66675">
                      <a:norm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634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Keep provenance and an expiry rule</a:t>
                      </a:r>
                    </a:p>
                  </a:txBody>
                  <a:tcPr marL="91440" marR="91440" marT="45720" marB="45720" anchor="ctr">
                    <a:lnR w="14288">
                      <a:solidFill>
                        <a:srgbClr val="D7DDE7"/>
                      </a:solidFill>
                      <a:prstDash val="solid"/>
                    </a:lnR>
                    <a:lnB w="14288">
                      <a:solidFill>
                        <a:srgbClr val="D7DD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66675" rIns="95250" bIns="66675">
                      <a:norm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634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If identity is uncertain, suppress personal details</a:t>
                      </a:r>
                    </a:p>
                  </a:txBody>
                  <a:tcPr marL="91440" marR="91440" marT="45720" marB="45720" anchor="ctr">
                    <a:lnR w="14288">
                      <a:solidFill>
                        <a:srgbClr val="D7DDE7"/>
                      </a:solidFill>
                      <a:prstDash val="solid"/>
                    </a:lnR>
                    <a:lnB w="14288">
                      <a:solidFill>
                        <a:srgbClr val="D7DD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lide-7-evaluated-bundle">
            <a:extLst xmlns:a="http://schemas.openxmlformats.org/drawingml/2006/main">
              <a:ext uri="{FF2B5EF4-FFF2-40B4-BE49-F238E27FC236}">
                <a16:creationId xmlns:a16="http://schemas.microsoft.com/office/drawing/2014/main" id="{A347F8C1-A880-4753-A32E-2F3F3696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734425"/>
            <a:ext cx="16192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F6FC"/>
          </a:solidFill>
          <a:ln xmlns:a="http://schemas.openxmlformats.org/drawingml/2006/main" w="19050">
            <a:solidFill>
              <a:srgbClr val="2453A6"/>
            </a:solidFill>
            <a:prstDash val="solid"/>
          </a:ln>
        </p:spPr>
      </p:sp>
      <p:sp>
        <p:nvSpPr>
          <p:cNvPr id="8" name="slide-7-bundle-text">
            <a:extLst xmlns:a="http://schemas.openxmlformats.org/drawingml/2006/main">
              <a:ext uri="{FF2B5EF4-FFF2-40B4-BE49-F238E27FC236}">
                <a16:creationId xmlns:a16="http://schemas.microsoft.com/office/drawing/2014/main" id="{07D540F9-6E0A-4266-9DD1-F48AE163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829675"/>
            <a:ext cx="1571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95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95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95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95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95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95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95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95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95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rPr>
              <a:t>BUNDLE TO EVALUATE: staff-reviewed note  →  explicit guest/stay link  →  shared stay record  →  glasses cue</a:t>
            </a:r>
          </a:p>
        </p:txBody>
      </p:sp>
    </p:spTree>
    <p:extLst>
      <p:ext uri="{BB962C8B-B14F-4D97-AF65-F5344CB8AC3E}">
        <p14:creationId xmlns:p14="http://schemas.microsoft.com/office/powerpoint/2010/main" val="2001252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228A32FF-1F73-461C-A54C-28EABE26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"/>
            <a:ext cx="1638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rPr>
              <a:t>EXISTING TOOLS AND CONCEPTS TO COMPARE</a:t>
            </a:r>
          </a:p>
        </p:txBody>
      </p:sp>
      <p:sp>
        <p:nvSpPr>
          <p:cNvPr id="2" name="slide-8-subtitle">
            <a:extLst xmlns:a="http://schemas.openxmlformats.org/drawingml/2006/main">
              <a:ext uri="{FF2B5EF4-FFF2-40B4-BE49-F238E27FC236}">
                <a16:creationId xmlns:a16="http://schemas.microsoft.com/office/drawing/2014/main" id="{E6C19775-C0D4-49FD-863D-607253F2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23975"/>
            <a:ext cx="1543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rPr>
              <a:t>Products cover parts of the workflow; compare complete service paths, not feature names.</a:t>
            </a:r>
          </a:p>
        </p:txBody>
      </p:sp>
      <p:sp>
        <p:nvSpPr>
          <p:cNvPr id="3" name="slide-8-footer-rule">
            <a:extLst xmlns:a="http://schemas.openxmlformats.org/drawingml/2006/main">
              <a:ext uri="{FF2B5EF4-FFF2-40B4-BE49-F238E27FC236}">
                <a16:creationId xmlns:a16="http://schemas.microsoft.com/office/drawing/2014/main" id="{645926B3-B1CE-431F-9250-F57D3FF9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686925"/>
            <a:ext cx="1657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7"/>
          </a:solidFill>
          <a:ln xmlns:a="http://schemas.openxmlformats.org/drawingml/2006/main" w="0">
            <a:solidFill>
              <a:srgbClr val="D7DDE7"/>
            </a:solidFill>
            <a:prstDash val="solid"/>
          </a:ln>
        </p:spPr>
      </p:sp>
      <p:sp>
        <p:nvSpPr>
          <p:cNvPr id="4" name="slide-8-footer">
            <a:extLst xmlns:a="http://schemas.openxmlformats.org/drawingml/2006/main">
              <a:ext uri="{FF2B5EF4-FFF2-40B4-BE49-F238E27FC236}">
                <a16:creationId xmlns:a16="http://schemas.microsoft.com/office/drawing/2014/main" id="{255AEFFC-14FE-44AE-819F-8C311FF4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536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rPr>
              <a:t>CDE4301  |  HOTEL PERSONALISATION</a:t>
            </a:r>
          </a:p>
        </p:txBody>
      </p:sp>
      <p:sp>
        <p:nvSpPr>
          <p:cNvPr id="5" name="slide-8-page">
            <a:extLst xmlns:a="http://schemas.openxmlformats.org/drawingml/2006/main">
              <a:ext uri="{FF2B5EF4-FFF2-40B4-BE49-F238E27FC236}">
                <a16:creationId xmlns:a16="http://schemas.microsoft.com/office/drawing/2014/main" id="{03409723-941F-4F1D-96DB-7BE244E0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75360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6" name="slide-8-vendor-1-frame">
            <a:extLst xmlns:a="http://schemas.openxmlformats.org/drawingml/2006/main">
              <a:ext uri="{FF2B5EF4-FFF2-40B4-BE49-F238E27FC236}">
                <a16:creationId xmlns:a16="http://schemas.microsoft.com/office/drawing/2014/main" id="{05FAF820-16F5-46EB-B120-9CE58A85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38350"/>
            <a:ext cx="38576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DDE7"/>
            </a:solidFill>
            <a:prstDash val="solid"/>
          </a:ln>
        </p:spPr>
      </p:sp>
      <p:sp>
        <p:nvSpPr>
          <p:cNvPr id="7" name="slide-8-vendor-1-accent">
            <a:extLst xmlns:a="http://schemas.openxmlformats.org/drawingml/2006/main">
              <a:ext uri="{FF2B5EF4-FFF2-40B4-BE49-F238E27FC236}">
                <a16:creationId xmlns:a16="http://schemas.microsoft.com/office/drawing/2014/main" id="{2463D956-DB04-4A4E-90F6-3570C8C4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38350"/>
            <a:ext cx="95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3A6"/>
          </a:solidFill>
          <a:ln xmlns:a="http://schemas.openxmlformats.org/drawingml/2006/main" w="0">
            <a:solidFill>
              <a:srgbClr val="2453A6"/>
            </a:solidFill>
            <a:prstDash val="solid"/>
          </a:ln>
        </p:spPr>
      </p:sp>
      <p:sp>
        <p:nvSpPr>
          <p:cNvPr id="8" name="slide-8-vendor-1-title">
            <a:extLst xmlns:a="http://schemas.openxmlformats.org/drawingml/2006/main">
              <a:ext uri="{FF2B5EF4-FFF2-40B4-BE49-F238E27FC236}">
                <a16:creationId xmlns:a16="http://schemas.microsoft.com/office/drawing/2014/main" id="{994BC2DB-696C-4BAE-A442-606B3574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219325"/>
            <a:ext cx="3362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rPr>
              <a:t>ORACLE OPERA CLOUD</a:t>
            </a:r>
          </a:p>
        </p:txBody>
      </p:sp>
      <p:sp>
        <p:nvSpPr>
          <p:cNvPr id="9" name="slide-8-vendor-1-body">
            <a:extLst xmlns:a="http://schemas.openxmlformats.org/drawingml/2006/main">
              <a:ext uri="{FF2B5EF4-FFF2-40B4-BE49-F238E27FC236}">
                <a16:creationId xmlns:a16="http://schemas.microsoft.com/office/drawing/2014/main" id="{6729F950-7650-47DA-AF5C-002B6D92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762250"/>
            <a:ext cx="33623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rPr>
              <a:t>Profile notes and preferences can be viewed or managed through staff workflows.</a:t>
            </a:r>
          </a:p>
        </p:txBody>
      </p:sp>
      <p:sp>
        <p:nvSpPr>
          <p:cNvPr id="10" name="slide-8-vendor-2-frame">
            <a:extLst xmlns:a="http://schemas.openxmlformats.org/drawingml/2006/main">
              <a:ext uri="{FF2B5EF4-FFF2-40B4-BE49-F238E27FC236}">
                <a16:creationId xmlns:a16="http://schemas.microsoft.com/office/drawing/2014/main" id="{4A6C8013-EFBA-4808-9317-2D59D065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38350"/>
            <a:ext cx="38576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DDE7"/>
            </a:solidFill>
            <a:prstDash val="solid"/>
          </a:ln>
        </p:spPr>
      </p:sp>
      <p:sp>
        <p:nvSpPr>
          <p:cNvPr id="11" name="slide-8-vendor-2-accent">
            <a:extLst xmlns:a="http://schemas.openxmlformats.org/drawingml/2006/main">
              <a:ext uri="{FF2B5EF4-FFF2-40B4-BE49-F238E27FC236}">
                <a16:creationId xmlns:a16="http://schemas.microsoft.com/office/drawing/2014/main" id="{A93EA2D2-28C6-437B-9B12-D7AB87EA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38350"/>
            <a:ext cx="95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3A6"/>
          </a:solidFill>
          <a:ln xmlns:a="http://schemas.openxmlformats.org/drawingml/2006/main" w="0">
            <a:solidFill>
              <a:srgbClr val="2453A6"/>
            </a:solidFill>
            <a:prstDash val="solid"/>
          </a:ln>
        </p:spPr>
      </p:sp>
      <p:sp>
        <p:nvSpPr>
          <p:cNvPr id="12" name="slide-8-vendor-2-title">
            <a:extLst xmlns:a="http://schemas.openxmlformats.org/drawingml/2006/main">
              <a:ext uri="{FF2B5EF4-FFF2-40B4-BE49-F238E27FC236}">
                <a16:creationId xmlns:a16="http://schemas.microsoft.com/office/drawing/2014/main" id="{FBD0C661-A8A6-48FB-BD89-93C3CE49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19325"/>
            <a:ext cx="3362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rPr>
              <a:t>HOTELKIT</a:t>
            </a:r>
          </a:p>
        </p:txBody>
      </p:sp>
      <p:sp>
        <p:nvSpPr>
          <p:cNvPr id="13" name="slide-8-vendor-2-body">
            <a:extLst xmlns:a="http://schemas.openxmlformats.org/drawingml/2006/main">
              <a:ext uri="{FF2B5EF4-FFF2-40B4-BE49-F238E27FC236}">
                <a16:creationId xmlns:a16="http://schemas.microsoft.com/office/drawing/2014/main" id="{C6939580-A10A-475D-9713-C79D43D4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62250"/>
            <a:ext cx="33623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rPr>
              <a:t>Digital handovers, team communication, guest requests and complaints.</a:t>
            </a:r>
          </a:p>
        </p:txBody>
      </p:sp>
      <p:sp>
        <p:nvSpPr>
          <p:cNvPr id="14" name="slide-8-vendor-3-frame">
            <a:extLst xmlns:a="http://schemas.openxmlformats.org/drawingml/2006/main">
              <a:ext uri="{FF2B5EF4-FFF2-40B4-BE49-F238E27FC236}">
                <a16:creationId xmlns:a16="http://schemas.microsoft.com/office/drawing/2014/main" id="{A528F7C3-EE54-43D6-A182-5A28E637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038350"/>
            <a:ext cx="38576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DDE7"/>
            </a:solidFill>
            <a:prstDash val="solid"/>
          </a:ln>
        </p:spPr>
      </p:sp>
      <p:sp>
        <p:nvSpPr>
          <p:cNvPr id="15" name="slide-8-vendor-3-accent">
            <a:extLst xmlns:a="http://schemas.openxmlformats.org/drawingml/2006/main">
              <a:ext uri="{FF2B5EF4-FFF2-40B4-BE49-F238E27FC236}">
                <a16:creationId xmlns:a16="http://schemas.microsoft.com/office/drawing/2014/main" id="{26A3A6DB-E171-4815-820B-CA299177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038350"/>
            <a:ext cx="95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3A6"/>
          </a:solidFill>
          <a:ln xmlns:a="http://schemas.openxmlformats.org/drawingml/2006/main" w="0">
            <a:solidFill>
              <a:srgbClr val="2453A6"/>
            </a:solidFill>
            <a:prstDash val="solid"/>
          </a:ln>
        </p:spPr>
      </p:sp>
      <p:sp>
        <p:nvSpPr>
          <p:cNvPr id="16" name="slide-8-vendor-3-title">
            <a:extLst xmlns:a="http://schemas.openxmlformats.org/drawingml/2006/main">
              <a:ext uri="{FF2B5EF4-FFF2-40B4-BE49-F238E27FC236}">
                <a16:creationId xmlns:a16="http://schemas.microsoft.com/office/drawing/2014/main" id="{3206460C-C187-4E35-A64C-C6C548C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219325"/>
            <a:ext cx="3362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rPr>
              <a:t>ALLIANTS CORE</a:t>
            </a:r>
          </a:p>
        </p:txBody>
      </p:sp>
      <p:sp>
        <p:nvSpPr>
          <p:cNvPr id="17" name="slide-8-vendor-3-body">
            <a:extLst xmlns:a="http://schemas.openxmlformats.org/drawingml/2006/main">
              <a:ext uri="{FF2B5EF4-FFF2-40B4-BE49-F238E27FC236}">
                <a16:creationId xmlns:a16="http://schemas.microsoft.com/office/drawing/2014/main" id="{6E0FB1D4-F7DA-4307-BD08-A04033A0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762250"/>
            <a:ext cx="33623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rPr>
              <a:t>Connects guest context across systems, including visitors and restaurant patrons.</a:t>
            </a:r>
          </a:p>
        </p:txBody>
      </p:sp>
      <p:sp>
        <p:nvSpPr>
          <p:cNvPr id="18" name="slide-8-vendor-4-frame">
            <a:extLst xmlns:a="http://schemas.openxmlformats.org/drawingml/2006/main">
              <a:ext uri="{FF2B5EF4-FFF2-40B4-BE49-F238E27FC236}">
                <a16:creationId xmlns:a16="http://schemas.microsoft.com/office/drawing/2014/main" id="{CBC69159-D76B-41B2-882C-54ABE283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1650" y="2038350"/>
            <a:ext cx="38576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DDE7"/>
            </a:solidFill>
            <a:prstDash val="solid"/>
          </a:ln>
        </p:spPr>
      </p:sp>
      <p:sp>
        <p:nvSpPr>
          <p:cNvPr id="19" name="slide-8-vendor-4-accent">
            <a:extLst xmlns:a="http://schemas.openxmlformats.org/drawingml/2006/main">
              <a:ext uri="{FF2B5EF4-FFF2-40B4-BE49-F238E27FC236}">
                <a16:creationId xmlns:a16="http://schemas.microsoft.com/office/drawing/2014/main" id="{3EF1B1B9-CFFA-475F-B71A-FD48ACF8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1650" y="2038350"/>
            <a:ext cx="95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3A6"/>
          </a:solidFill>
          <a:ln xmlns:a="http://schemas.openxmlformats.org/drawingml/2006/main" w="0">
            <a:solidFill>
              <a:srgbClr val="2453A6"/>
            </a:solidFill>
            <a:prstDash val="solid"/>
          </a:ln>
        </p:spPr>
      </p:sp>
      <p:sp>
        <p:nvSpPr>
          <p:cNvPr id="20" name="slide-8-vendor-4-title">
            <a:extLst xmlns:a="http://schemas.openxmlformats.org/drawingml/2006/main">
              <a:ext uri="{FF2B5EF4-FFF2-40B4-BE49-F238E27FC236}">
                <a16:creationId xmlns:a16="http://schemas.microsoft.com/office/drawing/2014/main" id="{338FD0F0-AEBB-487C-AD06-4CAD134A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2219325"/>
            <a:ext cx="3362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rPr>
              <a:t>SOFTSERVE FACE ID</a:t>
            </a:r>
          </a:p>
        </p:txBody>
      </p:sp>
      <p:sp>
        <p:nvSpPr>
          <p:cNvPr id="21" name="slide-8-vendor-4-body">
            <a:extLst xmlns:a="http://schemas.openxmlformats.org/drawingml/2006/main">
              <a:ext uri="{FF2B5EF4-FFF2-40B4-BE49-F238E27FC236}">
                <a16:creationId xmlns:a16="http://schemas.microsoft.com/office/drawing/2014/main" id="{988D2B5D-D4EC-4D65-BD35-DC940485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2762250"/>
            <a:ext cx="33623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rPr>
              <a:t>A hands-free AR face-ID demo lists hospitality as a use case.</a:t>
            </a:r>
          </a:p>
        </p:txBody>
      </p:sp>
      <p:sp>
        <p:nvSpPr>
          <p:cNvPr id="22" name="slide-8-workflow-heading">
            <a:extLst xmlns:a="http://schemas.openxmlformats.org/drawingml/2006/main">
              <a:ext uri="{FF2B5EF4-FFF2-40B4-BE49-F238E27FC236}">
                <a16:creationId xmlns:a16="http://schemas.microsoft.com/office/drawing/2014/main" id="{F84C9645-3BF3-4BF5-878D-5AA8C544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38625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rPr>
              <a:t>COMPLETE WORKFLOWS</a:t>
            </a:r>
          </a:p>
        </p:txBody>
      </p:sp>
      <p:sp>
        <p:nvSpPr>
          <p:cNvPr id="23" name="slide-8-concept-1-frame">
            <a:extLst xmlns:a="http://schemas.openxmlformats.org/drawingml/2006/main">
              <a:ext uri="{FF2B5EF4-FFF2-40B4-BE49-F238E27FC236}">
                <a16:creationId xmlns:a16="http://schemas.microsoft.com/office/drawing/2014/main" id="{2FA5F2D7-6FC5-44DF-B51C-8EB0FBED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5191125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DDE7"/>
            </a:solidFill>
            <a:prstDash val="solid"/>
          </a:ln>
        </p:spPr>
      </p:sp>
      <p:sp>
        <p:nvSpPr>
          <p:cNvPr id="24" name="slide-8-concept-1-accent">
            <a:extLst xmlns:a="http://schemas.openxmlformats.org/drawingml/2006/main">
              <a:ext uri="{FF2B5EF4-FFF2-40B4-BE49-F238E27FC236}">
                <a16:creationId xmlns:a16="http://schemas.microsoft.com/office/drawing/2014/main" id="{D5AA832D-8928-44A6-824F-A2066D7E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95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78"/>
          </a:solidFill>
          <a:ln xmlns:a="http://schemas.openxmlformats.org/drawingml/2006/main" w="0">
            <a:solidFill>
              <a:srgbClr val="5D6878"/>
            </a:solidFill>
            <a:prstDash val="solid"/>
          </a:ln>
        </p:spPr>
      </p:sp>
      <p:sp>
        <p:nvSpPr>
          <p:cNvPr id="25" name="slide-8-concept-1-title">
            <a:extLst xmlns:a="http://schemas.openxmlformats.org/drawingml/2006/main">
              <a:ext uri="{FF2B5EF4-FFF2-40B4-BE49-F238E27FC236}">
                <a16:creationId xmlns:a16="http://schemas.microsoft.com/office/drawing/2014/main" id="{5AD52925-EA39-43C0-900A-676127BD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38725"/>
            <a:ext cx="4695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rPr>
              <a:t>A · Profile note + phone lookup</a:t>
            </a:r>
          </a:p>
        </p:txBody>
      </p:sp>
      <p:sp>
        <p:nvSpPr>
          <p:cNvPr id="26" name="slide-8-concept-1-body">
            <a:extLst xmlns:a="http://schemas.openxmlformats.org/drawingml/2006/main">
              <a:ext uri="{FF2B5EF4-FFF2-40B4-BE49-F238E27FC236}">
                <a16:creationId xmlns:a16="http://schemas.microsoft.com/office/drawing/2014/main" id="{24A2D383-55BF-4F17-8F18-834121BF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38800"/>
            <a:ext cx="4695825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rPr>
              <a:t>Uses existing hotel records.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rPr>
              <a:t>Trade-off: staff must search at the service moment.</a:t>
            </a:r>
          </a:p>
        </p:txBody>
      </p:sp>
      <p:sp>
        <p:nvSpPr>
          <p:cNvPr id="27" name="slide-8-concept-2-frame">
            <a:extLst xmlns:a="http://schemas.openxmlformats.org/drawingml/2006/main">
              <a:ext uri="{FF2B5EF4-FFF2-40B4-BE49-F238E27FC236}">
                <a16:creationId xmlns:a16="http://schemas.microsoft.com/office/drawing/2014/main" id="{24CDB096-1B9F-4777-BE66-EF6D1694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57750"/>
            <a:ext cx="5191125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DDE7"/>
            </a:solidFill>
            <a:prstDash val="solid"/>
          </a:ln>
        </p:spPr>
      </p:sp>
      <p:sp>
        <p:nvSpPr>
          <p:cNvPr id="28" name="slide-8-concept-2-accent">
            <a:extLst xmlns:a="http://schemas.openxmlformats.org/drawingml/2006/main">
              <a:ext uri="{FF2B5EF4-FFF2-40B4-BE49-F238E27FC236}">
                <a16:creationId xmlns:a16="http://schemas.microsoft.com/office/drawing/2014/main" id="{9F2DFD8D-A7AD-459C-ACF8-A245596D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57750"/>
            <a:ext cx="95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3A6"/>
          </a:solidFill>
          <a:ln xmlns:a="http://schemas.openxmlformats.org/drawingml/2006/main" w="0">
            <a:solidFill>
              <a:srgbClr val="2453A6"/>
            </a:solidFill>
            <a:prstDash val="solid"/>
          </a:ln>
        </p:spPr>
      </p:sp>
      <p:sp>
        <p:nvSpPr>
          <p:cNvPr id="29" name="slide-8-concept-2-title">
            <a:extLst xmlns:a="http://schemas.openxmlformats.org/drawingml/2006/main">
              <a:ext uri="{FF2B5EF4-FFF2-40B4-BE49-F238E27FC236}">
                <a16:creationId xmlns:a16="http://schemas.microsoft.com/office/drawing/2014/main" id="{060DCE29-DB77-46EA-BFE7-0C1B34AF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38725"/>
            <a:ext cx="4695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rPr>
              <a:t>B · Phone capture + glasses cue</a:t>
            </a:r>
          </a:p>
        </p:txBody>
      </p:sp>
      <p:sp>
        <p:nvSpPr>
          <p:cNvPr id="30" name="slide-8-concept-2-body">
            <a:extLst xmlns:a="http://schemas.openxmlformats.org/drawingml/2006/main">
              <a:ext uri="{FF2B5EF4-FFF2-40B4-BE49-F238E27FC236}">
                <a16:creationId xmlns:a16="http://schemas.microsoft.com/office/drawing/2014/main" id="{4FB36243-81B9-4951-8253-BC82E3A5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638800"/>
            <a:ext cx="4695825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rPr>
              <a:t>Adds a checked guest-approved note, then tests hands-free retrieval.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rPr>
              <a:t>Trade-off: integration and staff impact are unknown.</a:t>
            </a:r>
          </a:p>
        </p:txBody>
      </p:sp>
      <p:sp>
        <p:nvSpPr>
          <p:cNvPr id="31" name="slide-8-concept-3-frame">
            <a:extLst xmlns:a="http://schemas.openxmlformats.org/drawingml/2006/main">
              <a:ext uri="{FF2B5EF4-FFF2-40B4-BE49-F238E27FC236}">
                <a16:creationId xmlns:a16="http://schemas.microsoft.com/office/drawing/2014/main" id="{AAEF2DB8-7A30-43D1-B857-310021DE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857750"/>
            <a:ext cx="5191125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DDE7"/>
            </a:solidFill>
            <a:prstDash val="solid"/>
          </a:ln>
        </p:spPr>
      </p:sp>
      <p:sp>
        <p:nvSpPr>
          <p:cNvPr id="32" name="slide-8-concept-3-accent">
            <a:extLst xmlns:a="http://schemas.openxmlformats.org/drawingml/2006/main">
              <a:ext uri="{FF2B5EF4-FFF2-40B4-BE49-F238E27FC236}">
                <a16:creationId xmlns:a16="http://schemas.microsoft.com/office/drawing/2014/main" id="{03BBFB80-6CEC-47B4-BC0F-FC948135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857750"/>
            <a:ext cx="95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B55"/>
          </a:solidFill>
          <a:ln xmlns:a="http://schemas.openxmlformats.org/drawingml/2006/main" w="0">
            <a:solidFill>
              <a:srgbClr val="2C6B55"/>
            </a:solidFill>
            <a:prstDash val="solid"/>
          </a:ln>
        </p:spPr>
      </p:sp>
      <p:sp>
        <p:nvSpPr>
          <p:cNvPr id="33" name="slide-8-concept-3-title">
            <a:extLst xmlns:a="http://schemas.openxmlformats.org/drawingml/2006/main">
              <a:ext uri="{FF2B5EF4-FFF2-40B4-BE49-F238E27FC236}">
                <a16:creationId xmlns:a16="http://schemas.microsoft.com/office/drawing/2014/main" id="{EAAC56E2-3CD7-4649-A880-01CD50CC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038725"/>
            <a:ext cx="4695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rPr>
              <a:t>C · Glasses match only</a:t>
            </a:r>
          </a:p>
        </p:txBody>
      </p:sp>
      <p:sp>
        <p:nvSpPr>
          <p:cNvPr id="34" name="slide-8-concept-3-body">
            <a:extLst xmlns:a="http://schemas.openxmlformats.org/drawingml/2006/main">
              <a:ext uri="{FF2B5EF4-FFF2-40B4-BE49-F238E27FC236}">
                <a16:creationId xmlns:a16="http://schemas.microsoft.com/office/drawing/2014/main" id="{FEB733A6-C6AE-4D45-99A2-30B98E51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638800"/>
            <a:ext cx="4695825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rPr>
              <a:t>Tests automatic access to existing profile context.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rPr>
              <a:t>Trade-off: does not capture a new preference or hand it over.</a:t>
            </a:r>
          </a:p>
        </p:txBody>
      </p:sp>
      <p:sp>
        <p:nvSpPr>
          <p:cNvPr id="35" name="slide-8-selection">
            <a:extLst xmlns:a="http://schemas.openxmlformats.org/drawingml/2006/main">
              <a:ext uri="{FF2B5EF4-FFF2-40B4-BE49-F238E27FC236}">
                <a16:creationId xmlns:a16="http://schemas.microsoft.com/office/drawing/2014/main" id="{DEE0E56C-7D3D-42FC-ABBC-5246589E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077200"/>
            <a:ext cx="16192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3F6FC"/>
          </a:solidFill>
          <a:ln xmlns:a="http://schemas.openxmlformats.org/drawingml/2006/main" w="19050">
            <a:solidFill>
              <a:srgbClr val="2453A6"/>
            </a:solidFill>
            <a:prstDash val="solid"/>
          </a:ln>
        </p:spPr>
      </p:sp>
      <p:sp>
        <p:nvSpPr>
          <p:cNvPr id="36" name="slide-8-selection-copy">
            <a:extLst xmlns:a="http://schemas.openxmlformats.org/drawingml/2006/main">
              <a:ext uri="{FF2B5EF4-FFF2-40B4-BE49-F238E27FC236}">
                <a16:creationId xmlns:a16="http://schemas.microsoft.com/office/drawing/2014/main" id="{26CA1836-1062-4C2B-8A84-BD9298AC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201025"/>
            <a:ext cx="15763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0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0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0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0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0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0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0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0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0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rPr>
              <a:t>CANDIDATE TO EVALUATE: B — it connects new preference capture to point-of-service access.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rPr>
              <a:t>No comparable public prices: estimate device, integration, training and support with the hotel.</a:t>
            </a:r>
          </a:p>
        </p:txBody>
      </p:sp>
    </p:spTree>
    <p:extLst>
      <p:ext uri="{BB962C8B-B14F-4D97-AF65-F5344CB8AC3E}">
        <p14:creationId xmlns:p14="http://schemas.microsoft.com/office/powerpoint/2010/main" val="2231723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CA6C2D63-F6A6-49F5-9337-966C987B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"/>
            <a:ext cx="1638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rPr>
              <a:t>CHOOSE ONE USEFUL GUEST DETAIL</a:t>
            </a:r>
          </a:p>
        </p:txBody>
      </p:sp>
      <p:sp>
        <p:nvSpPr>
          <p:cNvPr id="2" name="slide-9-subtitle">
            <a:extLst xmlns:a="http://schemas.openxmlformats.org/drawingml/2006/main">
              <a:ext uri="{FF2B5EF4-FFF2-40B4-BE49-F238E27FC236}">
                <a16:creationId xmlns:a16="http://schemas.microsoft.com/office/drawing/2014/main" id="{4FBD0F08-2750-4EAA-8FEF-CAFEEADB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23975"/>
            <a:ext cx="1543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rPr>
              <a:t>Start with information that changes a specific service action during this stay.</a:t>
            </a:r>
          </a:p>
        </p:txBody>
      </p:sp>
      <p:sp>
        <p:nvSpPr>
          <p:cNvPr id="3" name="slide-9-footer-rule">
            <a:extLst xmlns:a="http://schemas.openxmlformats.org/drawingml/2006/main">
              <a:ext uri="{FF2B5EF4-FFF2-40B4-BE49-F238E27FC236}">
                <a16:creationId xmlns:a16="http://schemas.microsoft.com/office/drawing/2014/main" id="{031EB9C8-CF58-4C41-A87B-4A3F98EA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686925"/>
            <a:ext cx="1657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7"/>
          </a:solidFill>
          <a:ln xmlns:a="http://schemas.openxmlformats.org/drawingml/2006/main" w="0">
            <a:solidFill>
              <a:srgbClr val="D7DDE7"/>
            </a:solidFill>
            <a:prstDash val="solid"/>
          </a:ln>
        </p:spPr>
      </p:sp>
      <p:sp>
        <p:nvSpPr>
          <p:cNvPr id="4" name="slide-9-footer">
            <a:extLst xmlns:a="http://schemas.openxmlformats.org/drawingml/2006/main">
              <a:ext uri="{FF2B5EF4-FFF2-40B4-BE49-F238E27FC236}">
                <a16:creationId xmlns:a16="http://schemas.microsoft.com/office/drawing/2014/main" id="{80C5C270-180B-4EE0-8344-52A6D272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536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rPr>
              <a:t>CDE4301  |  HOTEL PERSONALISATION</a:t>
            </a:r>
          </a:p>
        </p:txBody>
      </p:sp>
      <p:sp>
        <p:nvSpPr>
          <p:cNvPr id="5" name="slide-9-page">
            <a:extLst xmlns:a="http://schemas.openxmlformats.org/drawingml/2006/main">
              <a:ext uri="{FF2B5EF4-FFF2-40B4-BE49-F238E27FC236}">
                <a16:creationId xmlns:a16="http://schemas.microsoft.com/office/drawing/2014/main" id="{65A36478-60C0-4341-BD68-EAB11F8A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75360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69247B-15C8-4920-9858-5C3D09FF24C9}"/>
              </a:ext>
            </a:extLst>
          </p:cNvPr>
          <p:cNvGraphicFramePr/>
          <p:nvPr/>
        </p:nvGraphicFramePr>
        <p:xfrm>
          <a:off xmlns:a="http://schemas.openxmlformats.org/drawingml/2006/main" x="1143000" y="2238375"/>
          <a:ext xmlns:a="http://schemas.openxmlformats.org/drawingml/2006/main" cx="16002000" cy="4810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6191250"/>
                <a:gridCol w="5715000"/>
              </a:tblGrid>
              <a:tr h="1202531">
                <a:tc>
                  <a:txBody>
                    <a:bodyPr wrap="square" lIns="114300" tIns="66675" rIns="95250" bIns="66675">
                      <a:norm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CANDIDATE</a:t>
                      </a:r>
                    </a:p>
                  </a:txBody>
                  <a:tcPr marL="91440" marR="91440" marT="45720" marB="45720" anchor="ctr">
                    <a:lnL w="14288">
                      <a:solidFill>
                        <a:srgbClr val="D7DDE7"/>
                      </a:solidFill>
                      <a:prstDash val="solid"/>
                    </a:lnL>
                    <a:lnR w="14288">
                      <a:solidFill>
                        <a:srgbClr val="D7DDE7"/>
                      </a:solidFill>
                      <a:prstDash val="solid"/>
                    </a:lnR>
                    <a:lnT w="14288">
                      <a:solidFill>
                        <a:srgbClr val="D7DDE7"/>
                      </a:solidFill>
                      <a:prstDash val="solid"/>
                    </a:lnT>
                    <a:lnB w="14288">
                      <a:solidFill>
                        <a:srgbClr val="D7DDE7"/>
                      </a:solidFill>
                      <a:prstDash val="solid"/>
                    </a:lnB>
                    <a:solidFill>
                      <a:srgbClr val="2453A6"/>
                    </a:solidFill>
                  </a:tcPr>
                </a:tc>
                <a:tc>
                  <a:txBody>
                    <a:bodyPr wrap="square" lIns="114300" tIns="66675" rIns="95250" bIns="66675">
                      <a:norm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POSSIBLE SAME-STAY ACTION</a:t>
                      </a:r>
                    </a:p>
                  </a:txBody>
                  <a:tcPr marL="91440" marR="91440" marT="45720" marB="45720" anchor="ctr">
                    <a:lnR w="14288">
                      <a:solidFill>
                        <a:srgbClr val="D7DDE7"/>
                      </a:solidFill>
                      <a:prstDash val="solid"/>
                    </a:lnR>
                    <a:lnT w="14288">
                      <a:solidFill>
                        <a:srgbClr val="D7DDE7"/>
                      </a:solidFill>
                      <a:prstDash val="solid"/>
                    </a:lnT>
                    <a:lnB w="14288">
                      <a:solidFill>
                        <a:srgbClr val="D7DDE7"/>
                      </a:solidFill>
                      <a:prstDash val="solid"/>
                    </a:lnB>
                    <a:solidFill>
                      <a:srgbClr val="2453A6"/>
                    </a:solidFill>
                  </a:tcPr>
                </a:tc>
                <a:tc>
                  <a:txBody>
                    <a:bodyPr wrap="square" lIns="114300" tIns="66675" rIns="95250" bIns="66675">
                      <a:norm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VALIDATION QUESTION</a:t>
                      </a:r>
                    </a:p>
                  </a:txBody>
                  <a:tcPr marL="91440" marR="91440" marT="45720" marB="45720" anchor="ctr">
                    <a:lnR w="14288">
                      <a:solidFill>
                        <a:srgbClr val="D7DDE7"/>
                      </a:solidFill>
                      <a:prstDash val="solid"/>
                    </a:lnR>
                    <a:lnT w="14288">
                      <a:solidFill>
                        <a:srgbClr val="D7DDE7"/>
                      </a:solidFill>
                      <a:prstDash val="solid"/>
                    </a:lnT>
                    <a:lnB w="14288">
                      <a:solidFill>
                        <a:srgbClr val="D7DDE7"/>
                      </a:solidFill>
                      <a:prstDash val="solid"/>
                    </a:lnB>
                    <a:solidFill>
                      <a:srgbClr val="2453A6"/>
                    </a:solidFill>
                  </a:tcPr>
                </a:tc>
              </a:tr>
              <a:tr h="1202531">
                <a:tc>
                  <a:txBody>
                    <a:bodyPr wrap="square" lIns="114300" tIns="66675" rIns="95250" bIns="66675">
                      <a:norm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193F8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Food or drink preference</a:t>
                      </a:r>
                    </a:p>
                  </a:txBody>
                  <a:tcPr marL="91440" marR="91440" marT="45720" marB="45720" anchor="ctr">
                    <a:lnL w="14288">
                      <a:solidFill>
                        <a:srgbClr val="D7DDE7"/>
                      </a:solidFill>
                      <a:prstDash val="solid"/>
                    </a:lnL>
                    <a:lnR w="14288">
                      <a:solidFill>
                        <a:srgbClr val="D7DDE7"/>
                      </a:solidFill>
                      <a:prstDash val="solid"/>
                    </a:lnR>
                    <a:lnB w="14288">
                      <a:solidFill>
                        <a:srgbClr val="D7DDE7"/>
                      </a:solidFill>
                      <a:prstDash val="solid"/>
                    </a:lnB>
                    <a:solidFill>
                      <a:srgbClr val="E8EFFB"/>
                    </a:solidFill>
                  </a:tcPr>
                </a:tc>
                <a:tc>
                  <a:txBody>
                    <a:bodyPr wrap="square" lIns="114300" tIns="66675" rIns="95250" bIns="66675">
                      <a:norm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634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Offer a suitable option; confirm it still applies</a:t>
                      </a:r>
                    </a:p>
                  </a:txBody>
                  <a:tcPr marL="91440" marR="91440" marT="45720" marB="45720" anchor="ctr">
                    <a:lnR w="14288">
                      <a:solidFill>
                        <a:srgbClr val="D7DDE7"/>
                      </a:solidFill>
                      <a:prstDash val="solid"/>
                    </a:lnR>
                    <a:lnB w="14288">
                      <a:solidFill>
                        <a:srgbClr val="D7DDE7"/>
                      </a:solidFill>
                      <a:prstDash val="solid"/>
                    </a:lnB>
                    <a:solidFill>
                      <a:srgbClr val="E8EFFB"/>
                    </a:solidFill>
                  </a:tcPr>
                </a:tc>
                <a:tc>
                  <a:txBody>
                    <a:bodyPr wrap="square" lIns="114300" tIns="66675" rIns="95250" bIns="66675">
                      <a:norm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634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Would another staff member use this later in the stay?</a:t>
                      </a:r>
                    </a:p>
                  </a:txBody>
                  <a:tcPr marL="91440" marR="91440" marT="45720" marB="45720" anchor="ctr">
                    <a:lnR w="14288">
                      <a:solidFill>
                        <a:srgbClr val="D7DDE7"/>
                      </a:solidFill>
                      <a:prstDash val="solid"/>
                    </a:lnR>
                    <a:lnB w="14288">
                      <a:solidFill>
                        <a:srgbClr val="D7DDE7"/>
                      </a:solidFill>
                      <a:prstDash val="solid"/>
                    </a:lnB>
                    <a:solidFill>
                      <a:srgbClr val="E8EFFB"/>
                    </a:solidFill>
                  </a:tcPr>
                </a:tc>
              </a:tr>
              <a:tr h="1202531">
                <a:tc>
                  <a:txBody>
                    <a:bodyPr wrap="square" lIns="114300" tIns="66675" rIns="95250" bIns="66675">
                      <a:norm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193F8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Purpose or schedule</a:t>
                      </a:r>
                    </a:p>
                  </a:txBody>
                  <a:tcPr marL="91440" marR="91440" marT="45720" marB="45720" anchor="ctr">
                    <a:lnL w="14288">
                      <a:solidFill>
                        <a:srgbClr val="D7DDE7"/>
                      </a:solidFill>
                      <a:prstDash val="solid"/>
                    </a:lnL>
                    <a:lnR w="14288">
                      <a:solidFill>
                        <a:srgbClr val="D7DDE7"/>
                      </a:solidFill>
                      <a:prstDash val="solid"/>
                    </a:lnR>
                    <a:lnB w="14288">
                      <a:solidFill>
                        <a:srgbClr val="D7DD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66675" rIns="95250" bIns="66675">
                      <a:norm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634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Offer a useful breakfast or transport option</a:t>
                      </a:r>
                    </a:p>
                  </a:txBody>
                  <a:tcPr marL="91440" marR="91440" marT="45720" marB="45720" anchor="ctr">
                    <a:lnR w="14288">
                      <a:solidFill>
                        <a:srgbClr val="D7DDE7"/>
                      </a:solidFill>
                      <a:prstDash val="solid"/>
                    </a:lnR>
                    <a:lnB w="14288">
                      <a:solidFill>
                        <a:srgbClr val="D7DD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66675" rIns="95250" bIns="66675">
                      <a:norm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634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Is this appropriate to ask and share?</a:t>
                      </a:r>
                    </a:p>
                  </a:txBody>
                  <a:tcPr marL="91440" marR="91440" marT="45720" marB="45720" anchor="ctr">
                    <a:lnR w="14288">
                      <a:solidFill>
                        <a:srgbClr val="D7DDE7"/>
                      </a:solidFill>
                      <a:prstDash val="solid"/>
                    </a:lnR>
                    <a:lnB w="14288">
                      <a:solidFill>
                        <a:srgbClr val="D7DD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02531">
                <a:tc>
                  <a:txBody>
                    <a:bodyPr wrap="square" lIns="114300" tIns="66675" rIns="95250" bIns="66675">
                      <a:norm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193F8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Special occasion</a:t>
                      </a:r>
                    </a:p>
                  </a:txBody>
                  <a:tcPr marL="91440" marR="91440" marT="45720" marB="45720" anchor="ctr">
                    <a:lnL w="14288">
                      <a:solidFill>
                        <a:srgbClr val="D7DDE7"/>
                      </a:solidFill>
                      <a:prstDash val="solid"/>
                    </a:lnL>
                    <a:lnR w="14288">
                      <a:solidFill>
                        <a:srgbClr val="D7DDE7"/>
                      </a:solidFill>
                      <a:prstDash val="solid"/>
                    </a:lnR>
                    <a:lnB w="14288">
                      <a:solidFill>
                        <a:srgbClr val="D7DD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66675" rIns="95250" bIns="66675">
                      <a:norm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634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Offer a fitting acknowledgement</a:t>
                      </a:r>
                    </a:p>
                  </a:txBody>
                  <a:tcPr marL="91440" marR="91440" marT="45720" marB="45720" anchor="ctr">
                    <a:lnR w="14288">
                      <a:solidFill>
                        <a:srgbClr val="D7DDE7"/>
                      </a:solidFill>
                      <a:prstDash val="solid"/>
                    </a:lnR>
                    <a:lnB w="14288">
                      <a:solidFill>
                        <a:srgbClr val="D7DD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66675" rIns="95250" bIns="66675">
                      <a:norm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2634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Would the guest welcome this being remembered?</a:t>
                      </a:r>
                    </a:p>
                  </a:txBody>
                  <a:tcPr marL="91440" marR="91440" marT="45720" marB="45720" anchor="ctr">
                    <a:lnR w="14288">
                      <a:solidFill>
                        <a:srgbClr val="D7DDE7"/>
                      </a:solidFill>
                      <a:prstDash val="solid"/>
                    </a:lnR>
                    <a:lnB w="14288">
                      <a:solidFill>
                        <a:srgbClr val="D7DD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lide-9-primary-example">
            <a:extLst xmlns:a="http://schemas.openxmlformats.org/drawingml/2006/main">
              <a:ext uri="{FF2B5EF4-FFF2-40B4-BE49-F238E27FC236}">
                <a16:creationId xmlns:a16="http://schemas.microsoft.com/office/drawing/2014/main" id="{35DDBF9C-A522-4978-9CEA-B71F145E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419975"/>
            <a:ext cx="16002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6FC"/>
          </a:solidFill>
          <a:ln xmlns:a="http://schemas.openxmlformats.org/drawingml/2006/main" w="19050">
            <a:solidFill>
              <a:srgbClr val="2453A6"/>
            </a:solidFill>
            <a:prstDash val="solid"/>
          </a:ln>
        </p:spPr>
      </p:sp>
      <p:sp>
        <p:nvSpPr>
          <p:cNvPr id="8" name="slide-9-primary-label">
            <a:extLst xmlns:a="http://schemas.openxmlformats.org/drawingml/2006/main">
              <a:ext uri="{FF2B5EF4-FFF2-40B4-BE49-F238E27FC236}">
                <a16:creationId xmlns:a16="http://schemas.microsoft.com/office/drawing/2014/main" id="{5FA679A7-A0E1-45C8-BFED-B4FFEAA8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553325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95238"/>
          </a:bodyPr>
          <a:lstStyle xmlns:a="http://schemas.openxmlformats.org/drawingml/2006/main">
            <a:defPPr algn="l">
              <a:defRPr sz="15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rPr>
              <a:t>PRIMARY EXAMPLE TO VALIDATE</a:t>
            </a:r>
          </a:p>
        </p:txBody>
      </p:sp>
      <p:sp>
        <p:nvSpPr>
          <p:cNvPr id="9" name="slide-9-primary-copy">
            <a:extLst xmlns:a="http://schemas.openxmlformats.org/drawingml/2006/main">
              <a:ext uri="{FF2B5EF4-FFF2-40B4-BE49-F238E27FC236}">
                <a16:creationId xmlns:a16="http://schemas.microsoft.com/office/drawing/2014/main" id="{4038619A-DFB7-4550-A670-01B48CEB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7515225"/>
            <a:ext cx="1204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98214"/>
          </a:bodyPr>
          <a:lstStyle xmlns:a="http://schemas.openxmlformats.org/drawingml/2006/main">
            <a:defPPr algn="l">
              <a:defRPr sz="210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0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0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0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0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0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0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0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0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0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rPr>
              <a:t>“I prefer oat milk”  →  later F&amp;B staff offers a suitable drink and checks the preference still applies.</a:t>
            </a:r>
          </a:p>
        </p:txBody>
      </p:sp>
      <p:sp>
        <p:nvSpPr>
          <p:cNvPr id="10" name="slide-9-allergy-strip">
            <a:extLst xmlns:a="http://schemas.openxmlformats.org/drawingml/2006/main">
              <a:ext uri="{FF2B5EF4-FFF2-40B4-BE49-F238E27FC236}">
                <a16:creationId xmlns:a16="http://schemas.microsoft.com/office/drawing/2014/main" id="{B70B9DBE-DD15-407B-98FC-62DF5D3C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572500"/>
            <a:ext cx="16002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CEDEE"/>
          </a:solidFill>
          <a:ln xmlns:a="http://schemas.openxmlformats.org/drawingml/2006/main" w="19050">
            <a:solidFill>
              <a:srgbClr val="A12D36"/>
            </a:solidFill>
            <a:prstDash val="solid"/>
          </a:ln>
        </p:spPr>
      </p:sp>
      <p:sp>
        <p:nvSpPr>
          <p:cNvPr id="11" name="slide-9-allergy-copy">
            <a:extLst xmlns:a="http://schemas.openxmlformats.org/drawingml/2006/main">
              <a:ext uri="{FF2B5EF4-FFF2-40B4-BE49-F238E27FC236}">
                <a16:creationId xmlns:a16="http://schemas.microsoft.com/office/drawing/2014/main" id="{35AA0A77-1BD7-4FE6-873B-148ADA81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8677275"/>
            <a:ext cx="1552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A12D36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650" b="1">
                <a:solidFill>
                  <a:srgbClr val="A12D36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650" b="1">
                <a:solidFill>
                  <a:srgbClr val="A12D36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650" b="1">
                <a:solidFill>
                  <a:srgbClr val="A12D36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650" b="1">
                <a:solidFill>
                  <a:srgbClr val="A12D36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650" b="1">
                <a:solidFill>
                  <a:srgbClr val="A12D36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650" b="1">
                <a:solidFill>
                  <a:srgbClr val="A12D36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650" b="1">
                <a:solidFill>
                  <a:srgbClr val="A12D36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650" b="1">
                <a:solidFill>
                  <a:srgbClr val="A12D36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650" b="1">
                <a:solidFill>
                  <a:srgbClr val="A12D3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A12D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A12D36"/>
                </a:solidFill>
                <a:latin typeface="Helvetica Neue"/>
                <a:ea typeface="Helvetica Neue"/>
                <a:cs typeface="Helvetica Neue"/>
              </a:rPr>
              <a:t>ALLERGY IS A SAFETY ALERT, NOT A PREFERENCE. Verify against the authorised source and food-safety process; never rely on a face match alone.</a:t>
            </a:r>
          </a:p>
        </p:txBody>
      </p:sp>
    </p:spTree>
    <p:extLst>
      <p:ext uri="{BB962C8B-B14F-4D97-AF65-F5344CB8AC3E}">
        <p14:creationId xmlns:p14="http://schemas.microsoft.com/office/powerpoint/2010/main" val="14229641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00638859-ABAF-4E8C-9452-3D279D02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"/>
            <a:ext cx="1638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rPr>
              <a:t>GUEST AND STAFF JOURNEY</a:t>
            </a:r>
          </a:p>
        </p:txBody>
      </p:sp>
      <p:sp>
        <p:nvSpPr>
          <p:cNvPr id="2" name="slide-10-subtitle">
            <a:extLst xmlns:a="http://schemas.openxmlformats.org/drawingml/2006/main">
              <a:ext uri="{FF2B5EF4-FFF2-40B4-BE49-F238E27FC236}">
                <a16:creationId xmlns:a16="http://schemas.microsoft.com/office/drawing/2014/main" id="{B9CEEB17-E60F-40A3-97A7-AC71361A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23975"/>
            <a:ext cx="1543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rPr>
              <a:t>Example: a guest shares a dining preference during the current stay.</a:t>
            </a:r>
          </a:p>
        </p:txBody>
      </p:sp>
      <p:sp>
        <p:nvSpPr>
          <p:cNvPr id="3" name="slide-10-footer-rule">
            <a:extLst xmlns:a="http://schemas.openxmlformats.org/drawingml/2006/main">
              <a:ext uri="{FF2B5EF4-FFF2-40B4-BE49-F238E27FC236}">
                <a16:creationId xmlns:a16="http://schemas.microsoft.com/office/drawing/2014/main" id="{90144DDF-E2CC-424C-AEEA-40E2B47C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686925"/>
            <a:ext cx="1657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7"/>
          </a:solidFill>
          <a:ln xmlns:a="http://schemas.openxmlformats.org/drawingml/2006/main" w="0">
            <a:solidFill>
              <a:srgbClr val="D7DDE7"/>
            </a:solidFill>
            <a:prstDash val="solid"/>
          </a:ln>
        </p:spPr>
      </p:sp>
      <p:sp>
        <p:nvSpPr>
          <p:cNvPr id="4" name="slide-10-footer">
            <a:extLst xmlns:a="http://schemas.openxmlformats.org/drawingml/2006/main">
              <a:ext uri="{FF2B5EF4-FFF2-40B4-BE49-F238E27FC236}">
                <a16:creationId xmlns:a16="http://schemas.microsoft.com/office/drawing/2014/main" id="{7AE8CF11-5709-4B01-947A-27F02017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536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rPr>
              <a:t>CDE4301  |  HOTEL PERSONALISATION</a:t>
            </a:r>
          </a:p>
        </p:txBody>
      </p:sp>
      <p:sp>
        <p:nvSpPr>
          <p:cNvPr id="5" name="slide-10-page">
            <a:extLst xmlns:a="http://schemas.openxmlformats.org/drawingml/2006/main">
              <a:ext uri="{FF2B5EF4-FFF2-40B4-BE49-F238E27FC236}">
                <a16:creationId xmlns:a16="http://schemas.microsoft.com/office/drawing/2014/main" id="{6092C29C-AF1C-4176-8D18-624416CC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75360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6" name="slide-10-step-1">
            <a:extLst xmlns:a="http://schemas.openxmlformats.org/drawingml/2006/main">
              <a:ext uri="{FF2B5EF4-FFF2-40B4-BE49-F238E27FC236}">
                <a16:creationId xmlns:a16="http://schemas.microsoft.com/office/drawing/2014/main" id="{4A34057A-BB1C-485C-A42A-527F698D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2571750" cy="30480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DDE7"/>
            </a:solidFill>
            <a:prstDash val="solid"/>
          </a:ln>
        </p:spPr>
      </p:sp>
      <p:sp>
        <p:nvSpPr>
          <p:cNvPr id="7" name="slide-10-number-1">
            <a:extLst xmlns:a="http://schemas.openxmlformats.org/drawingml/2006/main">
              <a:ext uri="{FF2B5EF4-FFF2-40B4-BE49-F238E27FC236}">
                <a16:creationId xmlns:a16="http://schemas.microsoft.com/office/drawing/2014/main" id="{A4CE024D-56BA-41B2-A96E-C452D207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0037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3A6"/>
          </a:solidFill>
          <a:ln xmlns:a="http://schemas.openxmlformats.org/drawingml/2006/main" w="0">
            <a:solidFill>
              <a:srgbClr val="2453A6"/>
            </a:solidFill>
            <a:prstDash val="solid"/>
          </a:ln>
        </p:spPr>
      </p:sp>
      <p:sp>
        <p:nvSpPr>
          <p:cNvPr id="8" name="slide-10-number-text-1">
            <a:extLst xmlns:a="http://schemas.openxmlformats.org/drawingml/2006/main">
              <a:ext uri="{FF2B5EF4-FFF2-40B4-BE49-F238E27FC236}">
                <a16:creationId xmlns:a16="http://schemas.microsoft.com/office/drawing/2014/main" id="{6B3882FE-D5FC-48AF-A563-E09729D0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0037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slide-10-heading-1">
            <a:extLst xmlns:a="http://schemas.openxmlformats.org/drawingml/2006/main">
              <a:ext uri="{FF2B5EF4-FFF2-40B4-BE49-F238E27FC236}">
                <a16:creationId xmlns:a16="http://schemas.microsoft.com/office/drawing/2014/main" id="{D636F40E-1D21-4AC0-8D3A-1CCADD6B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62375"/>
            <a:ext cx="211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rPr>
              <a:t>GUEST SHARES</a:t>
            </a:r>
          </a:p>
        </p:txBody>
      </p:sp>
      <p:sp>
        <p:nvSpPr>
          <p:cNvPr id="10" name="slide-10-body-1">
            <a:extLst xmlns:a="http://schemas.openxmlformats.org/drawingml/2006/main">
              <a:ext uri="{FF2B5EF4-FFF2-40B4-BE49-F238E27FC236}">
                <a16:creationId xmlns:a16="http://schemas.microsoft.com/office/drawing/2014/main" id="{90BF4D9C-3AD6-41F7-B525-2446C04B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10075"/>
            <a:ext cx="2114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rPr>
              <a:t>“I prefer oat milk.”</a:t>
            </a:r>
          </a:p>
        </p:txBody>
      </p:sp>
      <p:sp>
        <p:nvSpPr>
          <p:cNvPr id="11" name="slide-10-arrow-1">
            <a:extLst xmlns:a="http://schemas.openxmlformats.org/drawingml/2006/main">
              <a:ext uri="{FF2B5EF4-FFF2-40B4-BE49-F238E27FC236}">
                <a16:creationId xmlns:a16="http://schemas.microsoft.com/office/drawing/2014/main" id="{29325628-C5A6-42D9-A0A2-5FD4BCF3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48125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53A6"/>
          </a:solidFill>
          <a:ln xmlns:a="http://schemas.openxmlformats.org/drawingml/2006/main" w="0">
            <a:solidFill>
              <a:srgbClr val="2453A6"/>
            </a:solidFill>
            <a:prstDash val="solid"/>
          </a:ln>
        </p:spPr>
      </p:sp>
      <p:sp>
        <p:nvSpPr>
          <p:cNvPr id="12" name="slide-10-step-2">
            <a:extLst xmlns:a="http://schemas.openxmlformats.org/drawingml/2006/main">
              <a:ext uri="{FF2B5EF4-FFF2-40B4-BE49-F238E27FC236}">
                <a16:creationId xmlns:a16="http://schemas.microsoft.com/office/drawing/2014/main" id="{542F2687-AF0D-401D-970F-2A7308AB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62250"/>
            <a:ext cx="2571750" cy="30480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DDE7"/>
            </a:solidFill>
            <a:prstDash val="solid"/>
          </a:ln>
        </p:spPr>
      </p:sp>
      <p:sp>
        <p:nvSpPr>
          <p:cNvPr id="13" name="slide-10-number-2">
            <a:extLst xmlns:a="http://schemas.openxmlformats.org/drawingml/2006/main">
              <a:ext uri="{FF2B5EF4-FFF2-40B4-BE49-F238E27FC236}">
                <a16:creationId xmlns:a16="http://schemas.microsoft.com/office/drawing/2014/main" id="{5D2D99E0-EC82-48EC-AF4F-FAEA40A4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00037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3A6"/>
          </a:solidFill>
          <a:ln xmlns:a="http://schemas.openxmlformats.org/drawingml/2006/main" w="0">
            <a:solidFill>
              <a:srgbClr val="2453A6"/>
            </a:solidFill>
            <a:prstDash val="solid"/>
          </a:ln>
        </p:spPr>
      </p:sp>
      <p:sp>
        <p:nvSpPr>
          <p:cNvPr id="14" name="slide-10-number-text-2">
            <a:extLst xmlns:a="http://schemas.openxmlformats.org/drawingml/2006/main">
              <a:ext uri="{FF2B5EF4-FFF2-40B4-BE49-F238E27FC236}">
                <a16:creationId xmlns:a16="http://schemas.microsoft.com/office/drawing/2014/main" id="{220229FB-F2F1-4BC3-AD25-293B9EBE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00037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slide-10-heading-2">
            <a:extLst xmlns:a="http://schemas.openxmlformats.org/drawingml/2006/main">
              <a:ext uri="{FF2B5EF4-FFF2-40B4-BE49-F238E27FC236}">
                <a16:creationId xmlns:a16="http://schemas.microsoft.com/office/drawing/2014/main" id="{0A5505FA-6780-4723-96C5-8E7FE4D7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762375"/>
            <a:ext cx="211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rPr>
              <a:t>ASK PERMISSION</a:t>
            </a:r>
          </a:p>
        </p:txBody>
      </p:sp>
      <p:sp>
        <p:nvSpPr>
          <p:cNvPr id="16" name="slide-10-body-2">
            <a:extLst xmlns:a="http://schemas.openxmlformats.org/drawingml/2006/main">
              <a:ext uri="{FF2B5EF4-FFF2-40B4-BE49-F238E27FC236}">
                <a16:creationId xmlns:a16="http://schemas.microsoft.com/office/drawing/2014/main" id="{2EEEB770-01BE-4D66-A246-5D1B8820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410075"/>
            <a:ext cx="2114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rPr>
              <a:t>Staff checks whether to save it for this stay.</a:t>
            </a:r>
          </a:p>
        </p:txBody>
      </p:sp>
      <p:sp>
        <p:nvSpPr>
          <p:cNvPr id="17" name="slide-10-arrow-2">
            <a:extLst xmlns:a="http://schemas.openxmlformats.org/drawingml/2006/main">
              <a:ext uri="{FF2B5EF4-FFF2-40B4-BE49-F238E27FC236}">
                <a16:creationId xmlns:a16="http://schemas.microsoft.com/office/drawing/2014/main" id="{7EAA68CF-D233-4614-BF76-0161F799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048125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53A6"/>
          </a:solidFill>
          <a:ln xmlns:a="http://schemas.openxmlformats.org/drawingml/2006/main" w="0">
            <a:solidFill>
              <a:srgbClr val="2453A6"/>
            </a:solidFill>
            <a:prstDash val="solid"/>
          </a:ln>
        </p:spPr>
      </p:sp>
      <p:sp>
        <p:nvSpPr>
          <p:cNvPr id="18" name="slide-10-step-3">
            <a:extLst xmlns:a="http://schemas.openxmlformats.org/drawingml/2006/main">
              <a:ext uri="{FF2B5EF4-FFF2-40B4-BE49-F238E27FC236}">
                <a16:creationId xmlns:a16="http://schemas.microsoft.com/office/drawing/2014/main" id="{731EE965-6D7A-4DE4-BF48-2883BB1C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62250"/>
            <a:ext cx="2571750" cy="30480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DDE7"/>
            </a:solidFill>
            <a:prstDash val="solid"/>
          </a:ln>
        </p:spPr>
      </p:sp>
      <p:sp>
        <p:nvSpPr>
          <p:cNvPr id="19" name="slide-10-number-3">
            <a:extLst xmlns:a="http://schemas.openxmlformats.org/drawingml/2006/main">
              <a:ext uri="{FF2B5EF4-FFF2-40B4-BE49-F238E27FC236}">
                <a16:creationId xmlns:a16="http://schemas.microsoft.com/office/drawing/2014/main" id="{2010C87B-6035-4A1E-95E9-4B8C8920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0037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620A"/>
          </a:solidFill>
          <a:ln xmlns:a="http://schemas.openxmlformats.org/drawingml/2006/main" w="0">
            <a:solidFill>
              <a:srgbClr val="98620A"/>
            </a:solidFill>
            <a:prstDash val="solid"/>
          </a:ln>
        </p:spPr>
      </p:sp>
      <p:sp>
        <p:nvSpPr>
          <p:cNvPr id="20" name="slide-10-number-text-3">
            <a:extLst xmlns:a="http://schemas.openxmlformats.org/drawingml/2006/main">
              <a:ext uri="{FF2B5EF4-FFF2-40B4-BE49-F238E27FC236}">
                <a16:creationId xmlns:a16="http://schemas.microsoft.com/office/drawing/2014/main" id="{43056694-C680-4418-A175-13D3F2FB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0037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1" name="slide-10-heading-3">
            <a:extLst xmlns:a="http://schemas.openxmlformats.org/drawingml/2006/main">
              <a:ext uri="{FF2B5EF4-FFF2-40B4-BE49-F238E27FC236}">
                <a16:creationId xmlns:a16="http://schemas.microsoft.com/office/drawing/2014/main" id="{737DE12F-2A8B-49A9-8680-E21DB448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62375"/>
            <a:ext cx="211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98620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1">
                <a:solidFill>
                  <a:srgbClr val="98620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1">
                <a:solidFill>
                  <a:srgbClr val="98620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1">
                <a:solidFill>
                  <a:srgbClr val="98620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1">
                <a:solidFill>
                  <a:srgbClr val="98620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1">
                <a:solidFill>
                  <a:srgbClr val="98620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1">
                <a:solidFill>
                  <a:srgbClr val="98620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1">
                <a:solidFill>
                  <a:srgbClr val="98620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1">
                <a:solidFill>
                  <a:srgbClr val="98620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1">
                <a:solidFill>
                  <a:srgbClr val="98620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9862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98620A"/>
                </a:solidFill>
                <a:latin typeface="Helvetica Neue"/>
                <a:ea typeface="Helvetica Neue"/>
                <a:cs typeface="Helvetica Neue"/>
              </a:rPr>
              <a:t>CAPTURE + CHECK</a:t>
            </a:r>
          </a:p>
        </p:txBody>
      </p:sp>
      <p:sp>
        <p:nvSpPr>
          <p:cNvPr id="22" name="slide-10-body-3">
            <a:extLst xmlns:a="http://schemas.openxmlformats.org/drawingml/2006/main">
              <a:ext uri="{FF2B5EF4-FFF2-40B4-BE49-F238E27FC236}">
                <a16:creationId xmlns:a16="http://schemas.microsoft.com/office/drawing/2014/main" id="{D56C4B5A-3719-4435-937F-2E92727C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10075"/>
            <a:ext cx="2114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rPr>
              <a:t>Staff records the short note and can edit it.</a:t>
            </a:r>
          </a:p>
        </p:txBody>
      </p:sp>
      <p:sp>
        <p:nvSpPr>
          <p:cNvPr id="23" name="slide-10-arrow-3">
            <a:extLst xmlns:a="http://schemas.openxmlformats.org/drawingml/2006/main">
              <a:ext uri="{FF2B5EF4-FFF2-40B4-BE49-F238E27FC236}">
                <a16:creationId xmlns:a16="http://schemas.microsoft.com/office/drawing/2014/main" id="{E9EB7728-4864-4D44-AD59-CBC61392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48125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53A6"/>
          </a:solidFill>
          <a:ln xmlns:a="http://schemas.openxmlformats.org/drawingml/2006/main" w="0">
            <a:solidFill>
              <a:srgbClr val="2453A6"/>
            </a:solidFill>
            <a:prstDash val="solid"/>
          </a:ln>
        </p:spPr>
      </p:sp>
      <p:sp>
        <p:nvSpPr>
          <p:cNvPr id="24" name="slide-10-step-4">
            <a:extLst xmlns:a="http://schemas.openxmlformats.org/drawingml/2006/main">
              <a:ext uri="{FF2B5EF4-FFF2-40B4-BE49-F238E27FC236}">
                <a16:creationId xmlns:a16="http://schemas.microsoft.com/office/drawing/2014/main" id="{51661C2E-66A6-4350-877F-4EF6EA47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762250"/>
            <a:ext cx="2571750" cy="30480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DDE7"/>
            </a:solidFill>
            <a:prstDash val="solid"/>
          </a:ln>
        </p:spPr>
      </p:sp>
      <p:sp>
        <p:nvSpPr>
          <p:cNvPr id="25" name="slide-10-number-4">
            <a:extLst xmlns:a="http://schemas.openxmlformats.org/drawingml/2006/main">
              <a:ext uri="{FF2B5EF4-FFF2-40B4-BE49-F238E27FC236}">
                <a16:creationId xmlns:a16="http://schemas.microsoft.com/office/drawing/2014/main" id="{E1F4FB4F-79DF-4D37-A8D5-71D15E67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00037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620A"/>
          </a:solidFill>
          <a:ln xmlns:a="http://schemas.openxmlformats.org/drawingml/2006/main" w="0">
            <a:solidFill>
              <a:srgbClr val="98620A"/>
            </a:solidFill>
            <a:prstDash val="solid"/>
          </a:ln>
        </p:spPr>
      </p:sp>
      <p:sp>
        <p:nvSpPr>
          <p:cNvPr id="26" name="slide-10-number-text-4">
            <a:extLst xmlns:a="http://schemas.openxmlformats.org/drawingml/2006/main">
              <a:ext uri="{FF2B5EF4-FFF2-40B4-BE49-F238E27FC236}">
                <a16:creationId xmlns:a16="http://schemas.microsoft.com/office/drawing/2014/main" id="{F41CCD1F-23F6-4A6F-BFFA-AA7DF803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00037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7" name="slide-10-heading-4">
            <a:extLst xmlns:a="http://schemas.openxmlformats.org/drawingml/2006/main">
              <a:ext uri="{FF2B5EF4-FFF2-40B4-BE49-F238E27FC236}">
                <a16:creationId xmlns:a16="http://schemas.microsoft.com/office/drawing/2014/main" id="{8A50737E-094A-4379-878B-4563FC4C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762375"/>
            <a:ext cx="211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98620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1">
                <a:solidFill>
                  <a:srgbClr val="98620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1">
                <a:solidFill>
                  <a:srgbClr val="98620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1">
                <a:solidFill>
                  <a:srgbClr val="98620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1">
                <a:solidFill>
                  <a:srgbClr val="98620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1">
                <a:solidFill>
                  <a:srgbClr val="98620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1">
                <a:solidFill>
                  <a:srgbClr val="98620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1">
                <a:solidFill>
                  <a:srgbClr val="98620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1">
                <a:solidFill>
                  <a:srgbClr val="98620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1">
                <a:solidFill>
                  <a:srgbClr val="98620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9862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98620A"/>
                </a:solidFill>
                <a:latin typeface="Helvetica Neue"/>
                <a:ea typeface="Helvetica Neue"/>
                <a:cs typeface="Helvetica Neue"/>
              </a:rPr>
              <a:t>LINK TO STAY</a:t>
            </a:r>
          </a:p>
        </p:txBody>
      </p:sp>
      <p:sp>
        <p:nvSpPr>
          <p:cNvPr id="28" name="slide-10-body-4">
            <a:extLst xmlns:a="http://schemas.openxmlformats.org/drawingml/2006/main">
              <a:ext uri="{FF2B5EF4-FFF2-40B4-BE49-F238E27FC236}">
                <a16:creationId xmlns:a16="http://schemas.microsoft.com/office/drawing/2014/main" id="{7DB1ADAB-700C-4384-91FC-E58302DB5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4410075"/>
            <a:ext cx="2114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rPr>
              <a:t>Select guest/stay; add source and expiry.</a:t>
            </a:r>
          </a:p>
        </p:txBody>
      </p:sp>
      <p:sp>
        <p:nvSpPr>
          <p:cNvPr id="29" name="slide-10-arrow-4">
            <a:extLst xmlns:a="http://schemas.openxmlformats.org/drawingml/2006/main">
              <a:ext uri="{FF2B5EF4-FFF2-40B4-BE49-F238E27FC236}">
                <a16:creationId xmlns:a16="http://schemas.microsoft.com/office/drawing/2014/main" id="{0C0A1661-4378-4BA4-90AA-463D51B7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975" y="4048125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53A6"/>
          </a:solidFill>
          <a:ln xmlns:a="http://schemas.openxmlformats.org/drawingml/2006/main" w="0">
            <a:solidFill>
              <a:srgbClr val="2453A6"/>
            </a:solidFill>
            <a:prstDash val="solid"/>
          </a:ln>
        </p:spPr>
      </p:sp>
      <p:sp>
        <p:nvSpPr>
          <p:cNvPr id="30" name="slide-10-step-5">
            <a:extLst xmlns:a="http://schemas.openxmlformats.org/drawingml/2006/main">
              <a:ext uri="{FF2B5EF4-FFF2-40B4-BE49-F238E27FC236}">
                <a16:creationId xmlns:a16="http://schemas.microsoft.com/office/drawing/2014/main" id="{ABAAD2D8-0EE5-4B06-AEDA-D50600F1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762250"/>
            <a:ext cx="2571750" cy="30480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DDE7"/>
            </a:solidFill>
            <a:prstDash val="solid"/>
          </a:ln>
        </p:spPr>
      </p:sp>
      <p:sp>
        <p:nvSpPr>
          <p:cNvPr id="31" name="slide-10-number-5">
            <a:extLst xmlns:a="http://schemas.openxmlformats.org/drawingml/2006/main">
              <a:ext uri="{FF2B5EF4-FFF2-40B4-BE49-F238E27FC236}">
                <a16:creationId xmlns:a16="http://schemas.microsoft.com/office/drawing/2014/main" id="{53FDE589-C3DC-463F-A436-27495724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300037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B55"/>
          </a:solidFill>
          <a:ln xmlns:a="http://schemas.openxmlformats.org/drawingml/2006/main" w="0">
            <a:solidFill>
              <a:srgbClr val="2C6B55"/>
            </a:solidFill>
            <a:prstDash val="solid"/>
          </a:ln>
        </p:spPr>
      </p:sp>
      <p:sp>
        <p:nvSpPr>
          <p:cNvPr id="32" name="slide-10-number-text-5">
            <a:extLst xmlns:a="http://schemas.openxmlformats.org/drawingml/2006/main">
              <a:ext uri="{FF2B5EF4-FFF2-40B4-BE49-F238E27FC236}">
                <a16:creationId xmlns:a16="http://schemas.microsoft.com/office/drawing/2014/main" id="{1892088D-8509-4530-B8C1-A085118C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300037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33" name="slide-10-heading-5">
            <a:extLst xmlns:a="http://schemas.openxmlformats.org/drawingml/2006/main">
              <a:ext uri="{FF2B5EF4-FFF2-40B4-BE49-F238E27FC236}">
                <a16:creationId xmlns:a16="http://schemas.microsoft.com/office/drawing/2014/main" id="{115A1874-639C-4B33-9A58-2B97A67E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3762375"/>
            <a:ext cx="211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2C6B55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1">
                <a:solidFill>
                  <a:srgbClr val="2C6B55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1">
                <a:solidFill>
                  <a:srgbClr val="2C6B55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1">
                <a:solidFill>
                  <a:srgbClr val="2C6B55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1">
                <a:solidFill>
                  <a:srgbClr val="2C6B55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1">
                <a:solidFill>
                  <a:srgbClr val="2C6B55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1">
                <a:solidFill>
                  <a:srgbClr val="2C6B55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1">
                <a:solidFill>
                  <a:srgbClr val="2C6B55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1">
                <a:solidFill>
                  <a:srgbClr val="2C6B55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1">
                <a:solidFill>
                  <a:srgbClr val="2C6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C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C6B55"/>
                </a:solidFill>
                <a:latin typeface="Helvetica Neue"/>
                <a:ea typeface="Helvetica Neue"/>
                <a:cs typeface="Helvetica Neue"/>
              </a:rPr>
              <a:t>NEXT STAFF RETRIEVES</a:t>
            </a:r>
          </a:p>
        </p:txBody>
      </p:sp>
      <p:sp>
        <p:nvSpPr>
          <p:cNvPr id="34" name="slide-10-body-5">
            <a:extLst xmlns:a="http://schemas.openxmlformats.org/drawingml/2006/main">
              <a:ext uri="{FF2B5EF4-FFF2-40B4-BE49-F238E27FC236}">
                <a16:creationId xmlns:a16="http://schemas.microsoft.com/office/drawing/2014/main" id="{C4D2AFC2-2270-4D3F-B945-9711C62C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4410075"/>
            <a:ext cx="2114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rPr>
              <a:t>A brief cue appears at a useful F&amp;B moment.</a:t>
            </a:r>
          </a:p>
        </p:txBody>
      </p:sp>
      <p:sp>
        <p:nvSpPr>
          <p:cNvPr id="35" name="slide-10-arrow-5">
            <a:extLst xmlns:a="http://schemas.openxmlformats.org/drawingml/2006/main">
              <a:ext uri="{FF2B5EF4-FFF2-40B4-BE49-F238E27FC236}">
                <a16:creationId xmlns:a16="http://schemas.microsoft.com/office/drawing/2014/main" id="{9FF419F6-15FD-441A-989F-FC3D4021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4048125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53A6"/>
          </a:solidFill>
          <a:ln xmlns:a="http://schemas.openxmlformats.org/drawingml/2006/main" w="0">
            <a:solidFill>
              <a:srgbClr val="2453A6"/>
            </a:solidFill>
            <a:prstDash val="solid"/>
          </a:ln>
        </p:spPr>
      </p:sp>
      <p:sp>
        <p:nvSpPr>
          <p:cNvPr id="36" name="slide-10-step-6">
            <a:extLst xmlns:a="http://schemas.openxmlformats.org/drawingml/2006/main">
              <a:ext uri="{FF2B5EF4-FFF2-40B4-BE49-F238E27FC236}">
                <a16:creationId xmlns:a16="http://schemas.microsoft.com/office/drawing/2014/main" id="{245081AC-521B-4392-ABAF-849EA95B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5225" y="2762250"/>
            <a:ext cx="2571750" cy="30480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DDE7"/>
            </a:solidFill>
            <a:prstDash val="solid"/>
          </a:ln>
        </p:spPr>
      </p:sp>
      <p:sp>
        <p:nvSpPr>
          <p:cNvPr id="37" name="slide-10-number-6">
            <a:extLst xmlns:a="http://schemas.openxmlformats.org/drawingml/2006/main">
              <a:ext uri="{FF2B5EF4-FFF2-40B4-BE49-F238E27FC236}">
                <a16:creationId xmlns:a16="http://schemas.microsoft.com/office/drawing/2014/main" id="{CE031814-EC44-47E6-8162-60AF9B7B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3825" y="300037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B55"/>
          </a:solidFill>
          <a:ln xmlns:a="http://schemas.openxmlformats.org/drawingml/2006/main" w="0">
            <a:solidFill>
              <a:srgbClr val="2C6B55"/>
            </a:solidFill>
            <a:prstDash val="solid"/>
          </a:ln>
        </p:spPr>
      </p:sp>
      <p:sp>
        <p:nvSpPr>
          <p:cNvPr id="38" name="slide-10-number-text-6">
            <a:extLst xmlns:a="http://schemas.openxmlformats.org/drawingml/2006/main">
              <a:ext uri="{FF2B5EF4-FFF2-40B4-BE49-F238E27FC236}">
                <a16:creationId xmlns:a16="http://schemas.microsoft.com/office/drawing/2014/main" id="{17B79454-D185-4687-B5E4-5E03C1D8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3825" y="300037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39" name="slide-10-heading-6">
            <a:extLst xmlns:a="http://schemas.openxmlformats.org/drawingml/2006/main">
              <a:ext uri="{FF2B5EF4-FFF2-40B4-BE49-F238E27FC236}">
                <a16:creationId xmlns:a16="http://schemas.microsoft.com/office/drawing/2014/main" id="{73CA7D38-AE22-4557-857E-723B9A59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3825" y="3762375"/>
            <a:ext cx="211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2C6B55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1">
                <a:solidFill>
                  <a:srgbClr val="2C6B55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1">
                <a:solidFill>
                  <a:srgbClr val="2C6B55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1">
                <a:solidFill>
                  <a:srgbClr val="2C6B55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1">
                <a:solidFill>
                  <a:srgbClr val="2C6B55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1">
                <a:solidFill>
                  <a:srgbClr val="2C6B55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1">
                <a:solidFill>
                  <a:srgbClr val="2C6B55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1">
                <a:solidFill>
                  <a:srgbClr val="2C6B55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1">
                <a:solidFill>
                  <a:srgbClr val="2C6B55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1">
                <a:solidFill>
                  <a:srgbClr val="2C6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C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C6B55"/>
                </a:solidFill>
                <a:latin typeface="Helvetica Neue"/>
                <a:ea typeface="Helvetica Neue"/>
                <a:cs typeface="Helvetica Neue"/>
              </a:rPr>
              <a:t>CONFIRM + ACT</a:t>
            </a:r>
          </a:p>
        </p:txBody>
      </p:sp>
      <p:sp>
        <p:nvSpPr>
          <p:cNvPr id="40" name="slide-10-body-6">
            <a:extLst xmlns:a="http://schemas.openxmlformats.org/drawingml/2006/main">
              <a:ext uri="{FF2B5EF4-FFF2-40B4-BE49-F238E27FC236}">
                <a16:creationId xmlns:a16="http://schemas.microsoft.com/office/drawing/2014/main" id="{8F75505A-0E0A-41D3-8D68-73B2DECB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3825" y="4410075"/>
            <a:ext cx="2114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rPr>
              <a:t>Check it still applies; correct or clear the note.</a:t>
            </a:r>
          </a:p>
        </p:txBody>
      </p:sp>
      <p:sp>
        <p:nvSpPr>
          <p:cNvPr id="41" name="slide-10-evidence-heading">
            <a:extLst xmlns:a="http://schemas.openxmlformats.org/drawingml/2006/main">
              <a:ext uri="{FF2B5EF4-FFF2-40B4-BE49-F238E27FC236}">
                <a16:creationId xmlns:a16="http://schemas.microsoft.com/office/drawing/2014/main" id="{4DAB8538-E4C2-47E5-A38E-73732950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3627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0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0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0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0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0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0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0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0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0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rPr>
              <a:t>WHAT THE CURRENT PROTOTYPES SHOW</a:t>
            </a:r>
          </a:p>
        </p:txBody>
      </p:sp>
      <p:sp>
        <p:nvSpPr>
          <p:cNvPr id="42" name="slide-10-main-poc-frame">
            <a:extLst xmlns:a="http://schemas.openxmlformats.org/drawingml/2006/main">
              <a:ext uri="{FF2B5EF4-FFF2-40B4-BE49-F238E27FC236}">
                <a16:creationId xmlns:a16="http://schemas.microsoft.com/office/drawing/2014/main" id="{ACFC4B05-6249-4CB5-8EAD-2853C8A8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905625"/>
            <a:ext cx="509587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DDE7"/>
            </a:solidFill>
            <a:prstDash val="solid"/>
          </a:ln>
        </p:spPr>
      </p:sp>
      <p:sp>
        <p:nvSpPr>
          <p:cNvPr id="43" name="slide-10-main-poc-accent">
            <a:extLst xmlns:a="http://schemas.openxmlformats.org/drawingml/2006/main">
              <a:ext uri="{FF2B5EF4-FFF2-40B4-BE49-F238E27FC236}">
                <a16:creationId xmlns:a16="http://schemas.microsoft.com/office/drawing/2014/main" id="{3E429E1D-0363-48FB-B802-12E58353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905625"/>
            <a:ext cx="95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3A6"/>
          </a:solidFill>
          <a:ln xmlns:a="http://schemas.openxmlformats.org/drawingml/2006/main" w="0">
            <a:solidFill>
              <a:srgbClr val="2453A6"/>
            </a:solidFill>
            <a:prstDash val="solid"/>
          </a:ln>
        </p:spPr>
      </p:sp>
      <p:sp>
        <p:nvSpPr>
          <p:cNvPr id="44" name="slide-10-main-poc-title">
            <a:extLst xmlns:a="http://schemas.openxmlformats.org/drawingml/2006/main">
              <a:ext uri="{FF2B5EF4-FFF2-40B4-BE49-F238E27FC236}">
                <a16:creationId xmlns:a16="http://schemas.microsoft.com/office/drawing/2014/main" id="{6B7D78EC-326C-4255-BFED-B5672C03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086600"/>
            <a:ext cx="46005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rPr>
              <a:t>MAIN HOTEL POC</a:t>
            </a:r>
          </a:p>
        </p:txBody>
      </p:sp>
      <p:sp>
        <p:nvSpPr>
          <p:cNvPr id="45" name="slide-10-main-poc-body">
            <a:extLst xmlns:a="http://schemas.openxmlformats.org/drawingml/2006/main">
              <a:ext uri="{FF2B5EF4-FFF2-40B4-BE49-F238E27FC236}">
                <a16:creationId xmlns:a16="http://schemas.microsoft.com/office/drawing/2014/main" id="{CB8D6D44-E662-43D8-BB74-FB824720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572375"/>
            <a:ext cx="4600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rPr>
              <a:t>Simulated lounge taps/cohort, synthetic profiles, matching and cue presentation.</a:t>
            </a:r>
          </a:p>
        </p:txBody>
      </p:sp>
      <p:sp>
        <p:nvSpPr>
          <p:cNvPr id="46" name="slide-10-rokid-frame">
            <a:extLst xmlns:a="http://schemas.openxmlformats.org/drawingml/2006/main">
              <a:ext uri="{FF2B5EF4-FFF2-40B4-BE49-F238E27FC236}">
                <a16:creationId xmlns:a16="http://schemas.microsoft.com/office/drawing/2014/main" id="{CC559E83-A5C9-4CE5-86BC-07BE73F0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6905625"/>
            <a:ext cx="509587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DDE7"/>
            </a:solidFill>
            <a:prstDash val="solid"/>
          </a:ln>
        </p:spPr>
      </p:sp>
      <p:sp>
        <p:nvSpPr>
          <p:cNvPr id="47" name="slide-10-rokid-accent">
            <a:extLst xmlns:a="http://schemas.openxmlformats.org/drawingml/2006/main">
              <a:ext uri="{FF2B5EF4-FFF2-40B4-BE49-F238E27FC236}">
                <a16:creationId xmlns:a16="http://schemas.microsoft.com/office/drawing/2014/main" id="{3BD2DAEE-9DF1-4271-AF74-62695AFC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6905625"/>
            <a:ext cx="95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78"/>
          </a:solidFill>
          <a:ln xmlns:a="http://schemas.openxmlformats.org/drawingml/2006/main" w="0">
            <a:solidFill>
              <a:srgbClr val="5D6878"/>
            </a:solidFill>
            <a:prstDash val="solid"/>
          </a:ln>
        </p:spPr>
      </p:sp>
      <p:sp>
        <p:nvSpPr>
          <p:cNvPr id="48" name="slide-10-rokid-title">
            <a:extLst xmlns:a="http://schemas.openxmlformats.org/drawingml/2006/main">
              <a:ext uri="{FF2B5EF4-FFF2-40B4-BE49-F238E27FC236}">
                <a16:creationId xmlns:a16="http://schemas.microsoft.com/office/drawing/2014/main" id="{8BD86445-E198-4151-B170-AA1D9E58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7086600"/>
            <a:ext cx="46005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65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65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65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65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65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65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65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65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65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rPr>
              <a:t>STANDALONE ROKID DEMO</a:t>
            </a:r>
          </a:p>
        </p:txBody>
      </p:sp>
      <p:sp>
        <p:nvSpPr>
          <p:cNvPr id="49" name="slide-10-rokid-body">
            <a:extLst xmlns:a="http://schemas.openxmlformats.org/drawingml/2006/main">
              <a:ext uri="{FF2B5EF4-FFF2-40B4-BE49-F238E27FC236}">
                <a16:creationId xmlns:a16="http://schemas.microsoft.com/office/drawing/2014/main" id="{E472A696-DA82-4EE8-95BD-46FE7EF3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7572375"/>
            <a:ext cx="4600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rPr>
              <a:t>Camera image → laptop gallery match → name/status. Separate from the main hotel POC.</a:t>
            </a:r>
          </a:p>
        </p:txBody>
      </p:sp>
      <p:sp>
        <p:nvSpPr>
          <p:cNvPr id="50" name="slide-10-proposed-frame">
            <a:extLst xmlns:a="http://schemas.openxmlformats.org/drawingml/2006/main">
              <a:ext uri="{FF2B5EF4-FFF2-40B4-BE49-F238E27FC236}">
                <a16:creationId xmlns:a16="http://schemas.microsoft.com/office/drawing/2014/main" id="{E42CB634-2F0B-4235-9242-E671FA67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6905625"/>
            <a:ext cx="509587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DDE7"/>
            </a:solidFill>
            <a:prstDash val="solid"/>
          </a:ln>
        </p:spPr>
      </p:sp>
      <p:sp>
        <p:nvSpPr>
          <p:cNvPr id="51" name="slide-10-proposed-accent">
            <a:extLst xmlns:a="http://schemas.openxmlformats.org/drawingml/2006/main">
              <a:ext uri="{FF2B5EF4-FFF2-40B4-BE49-F238E27FC236}">
                <a16:creationId xmlns:a16="http://schemas.microsoft.com/office/drawing/2014/main" id="{A796A55B-4334-4CAE-A278-E4BB6A2C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6905625"/>
            <a:ext cx="95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620A"/>
          </a:solidFill>
          <a:ln xmlns:a="http://schemas.openxmlformats.org/drawingml/2006/main" w="0">
            <a:solidFill>
              <a:srgbClr val="98620A"/>
            </a:solidFill>
            <a:prstDash val="solid"/>
          </a:ln>
        </p:spPr>
      </p:sp>
      <p:sp>
        <p:nvSpPr>
          <p:cNvPr id="52" name="slide-10-proposed-title">
            <a:extLst xmlns:a="http://schemas.openxmlformats.org/drawingml/2006/main">
              <a:ext uri="{FF2B5EF4-FFF2-40B4-BE49-F238E27FC236}">
                <a16:creationId xmlns:a16="http://schemas.microsoft.com/office/drawing/2014/main" id="{C0BD013E-C83E-4972-94F1-19DA96D5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7086600"/>
            <a:ext cx="46005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rPr>
              <a:t>PROPOSED EXTENSION</a:t>
            </a:r>
          </a:p>
        </p:txBody>
      </p:sp>
      <p:sp>
        <p:nvSpPr>
          <p:cNvPr id="53" name="slide-10-proposed-body">
            <a:extLst xmlns:a="http://schemas.openxmlformats.org/drawingml/2006/main">
              <a:ext uri="{FF2B5EF4-FFF2-40B4-BE49-F238E27FC236}">
                <a16:creationId xmlns:a16="http://schemas.microsoft.com/office/drawing/2014/main" id="{F2B9FFF5-31CA-42ED-AABB-04B2E0A0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7572375"/>
            <a:ext cx="4600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rPr>
              <a:t>Preference capture, guest/stay note update and handover to the next employee.</a:t>
            </a:r>
          </a:p>
        </p:txBody>
      </p:sp>
    </p:spTree>
    <p:extLst>
      <p:ext uri="{BB962C8B-B14F-4D97-AF65-F5344CB8AC3E}">
        <p14:creationId xmlns:p14="http://schemas.microsoft.com/office/powerpoint/2010/main" val="13368776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299E91C4-545A-4F9A-B080-904BFBAB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"/>
            <a:ext cx="1638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rPr>
              <a:t>ARCHITECTURE: CAPTURE AND RETRIEVE</a:t>
            </a:r>
          </a:p>
        </p:txBody>
      </p:sp>
      <p:sp>
        <p:nvSpPr>
          <p:cNvPr id="2" name="slide-11-subtitle">
            <a:extLst xmlns:a="http://schemas.openxmlformats.org/drawingml/2006/main">
              <a:ext uri="{FF2B5EF4-FFF2-40B4-BE49-F238E27FC236}">
                <a16:creationId xmlns:a16="http://schemas.microsoft.com/office/drawing/2014/main" id="{2C39CAF2-DF2A-4393-B170-4116C787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23975"/>
            <a:ext cx="1543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rPr>
              <a:t>Add a staff-approved write path to the existing guest-context retrieval path.</a:t>
            </a:r>
          </a:p>
        </p:txBody>
      </p:sp>
      <p:sp>
        <p:nvSpPr>
          <p:cNvPr id="3" name="slide-11-footer-rule">
            <a:extLst xmlns:a="http://schemas.openxmlformats.org/drawingml/2006/main">
              <a:ext uri="{FF2B5EF4-FFF2-40B4-BE49-F238E27FC236}">
                <a16:creationId xmlns:a16="http://schemas.microsoft.com/office/drawing/2014/main" id="{5F8EE5B0-FABC-4CF2-8D36-B430A5C2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686925"/>
            <a:ext cx="1657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7"/>
          </a:solidFill>
          <a:ln xmlns:a="http://schemas.openxmlformats.org/drawingml/2006/main" w="0">
            <a:solidFill>
              <a:srgbClr val="D7DDE7"/>
            </a:solidFill>
            <a:prstDash val="solid"/>
          </a:ln>
        </p:spPr>
      </p:sp>
      <p:sp>
        <p:nvSpPr>
          <p:cNvPr id="4" name="slide-11-footer">
            <a:extLst xmlns:a="http://schemas.openxmlformats.org/drawingml/2006/main">
              <a:ext uri="{FF2B5EF4-FFF2-40B4-BE49-F238E27FC236}">
                <a16:creationId xmlns:a16="http://schemas.microsoft.com/office/drawing/2014/main" id="{0C83E3CF-BC89-4D15-A62B-BC475925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536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rPr>
              <a:t>CDE4301  |  HOTEL PERSONALISATION</a:t>
            </a:r>
          </a:p>
        </p:txBody>
      </p:sp>
      <p:sp>
        <p:nvSpPr>
          <p:cNvPr id="5" name="slide-11-page">
            <a:extLst xmlns:a="http://schemas.openxmlformats.org/drawingml/2006/main">
              <a:ext uri="{FF2B5EF4-FFF2-40B4-BE49-F238E27FC236}">
                <a16:creationId xmlns:a16="http://schemas.microsoft.com/office/drawing/2014/main" id="{E37F34EE-E279-43DE-93E0-F09CCA07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75360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6" name="slide-11-capture-lane">
            <a:extLst xmlns:a="http://schemas.openxmlformats.org/drawingml/2006/main">
              <a:ext uri="{FF2B5EF4-FFF2-40B4-BE49-F238E27FC236}">
                <a16:creationId xmlns:a16="http://schemas.microsoft.com/office/drawing/2014/main" id="{129DD2B2-72F3-4D07-B0B9-FE86AE00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1657350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3F6FC"/>
          </a:solidFill>
          <a:ln xmlns:a="http://schemas.openxmlformats.org/drawingml/2006/main" w="19050">
            <a:solidFill>
              <a:srgbClr val="2453A6"/>
            </a:solidFill>
            <a:prstDash val="solid"/>
          </a:ln>
        </p:spPr>
      </p:sp>
      <p:sp>
        <p:nvSpPr>
          <p:cNvPr id="7" name="slide-11-capture-label">
            <a:extLst xmlns:a="http://schemas.openxmlformats.org/drawingml/2006/main">
              <a:ext uri="{FF2B5EF4-FFF2-40B4-BE49-F238E27FC236}">
                <a16:creationId xmlns:a16="http://schemas.microsoft.com/office/drawing/2014/main" id="{A8EA0CFE-5344-402D-B8EC-969BBA3E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2885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rPr>
              <a:t>PROPOSED CAPTURE / WRITE PATH</a:t>
            </a:r>
          </a:p>
        </p:txBody>
      </p:sp>
      <p:sp>
        <p:nvSpPr>
          <p:cNvPr id="8" name="slide-11-write-box-0">
            <a:extLst xmlns:a="http://schemas.openxmlformats.org/drawingml/2006/main">
              <a:ext uri="{FF2B5EF4-FFF2-40B4-BE49-F238E27FC236}">
                <a16:creationId xmlns:a16="http://schemas.microsoft.com/office/drawing/2014/main" id="{6A6A9F56-75E1-4E9A-9340-A00C80A8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05125"/>
            <a:ext cx="2762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3A6"/>
            </a:solidFill>
            <a:prstDash val="solid"/>
          </a:ln>
        </p:spPr>
      </p:sp>
      <p:sp>
        <p:nvSpPr>
          <p:cNvPr id="9" name="slide-11-write-text-0">
            <a:extLst xmlns:a="http://schemas.openxmlformats.org/drawingml/2006/main">
              <a:ext uri="{FF2B5EF4-FFF2-40B4-BE49-F238E27FC236}">
                <a16:creationId xmlns:a16="http://schemas.microsoft.com/office/drawing/2014/main" id="{16428C4F-F2D1-4506-AAA2-98376D43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00375"/>
            <a:ext cx="2533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ctr">
              <a:defRPr sz="1725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725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725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725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725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725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725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725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725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725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725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rPr>
              <a:t>Guest shares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rPr>
              <a:t>a preference</a:t>
            </a:r>
          </a:p>
        </p:txBody>
      </p:sp>
      <p:sp>
        <p:nvSpPr>
          <p:cNvPr id="10" name="slide-11-write-arrow-0">
            <a:extLst xmlns:a="http://schemas.openxmlformats.org/drawingml/2006/main">
              <a:ext uri="{FF2B5EF4-FFF2-40B4-BE49-F238E27FC236}">
                <a16:creationId xmlns:a16="http://schemas.microsoft.com/office/drawing/2014/main" id="{6B33C229-1526-4164-893A-1FA539BF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333750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53A6"/>
          </a:solidFill>
          <a:ln xmlns:a="http://schemas.openxmlformats.org/drawingml/2006/main" w="0">
            <a:solidFill>
              <a:srgbClr val="2453A6"/>
            </a:solidFill>
            <a:prstDash val="solid"/>
          </a:ln>
        </p:spPr>
      </p:sp>
      <p:sp>
        <p:nvSpPr>
          <p:cNvPr id="11" name="slide-11-write-box-1">
            <a:extLst xmlns:a="http://schemas.openxmlformats.org/drawingml/2006/main">
              <a:ext uri="{FF2B5EF4-FFF2-40B4-BE49-F238E27FC236}">
                <a16:creationId xmlns:a16="http://schemas.microsoft.com/office/drawing/2014/main" id="{DAA1732F-ABE4-4F4F-B532-39A68B27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05125"/>
            <a:ext cx="2762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3A6"/>
            </a:solidFill>
            <a:prstDash val="solid"/>
          </a:ln>
        </p:spPr>
      </p:sp>
      <p:sp>
        <p:nvSpPr>
          <p:cNvPr id="12" name="slide-11-write-text-1">
            <a:extLst xmlns:a="http://schemas.openxmlformats.org/drawingml/2006/main">
              <a:ext uri="{FF2B5EF4-FFF2-40B4-BE49-F238E27FC236}">
                <a16:creationId xmlns:a16="http://schemas.microsoft.com/office/drawing/2014/main" id="{6C7F823F-DBD4-4587-B881-FFF1F16E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00375"/>
            <a:ext cx="2533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rPr>
              <a:t>Staff phone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rPr>
              <a:t>form + review</a:t>
            </a:r>
          </a:p>
        </p:txBody>
      </p:sp>
      <p:sp>
        <p:nvSpPr>
          <p:cNvPr id="13" name="slide-11-write-arrow-1">
            <a:extLst xmlns:a="http://schemas.openxmlformats.org/drawingml/2006/main">
              <a:ext uri="{FF2B5EF4-FFF2-40B4-BE49-F238E27FC236}">
                <a16:creationId xmlns:a16="http://schemas.microsoft.com/office/drawing/2014/main" id="{D3EF925E-0C2F-45C7-9BCC-2ABFD2E3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33750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53A6"/>
          </a:solidFill>
          <a:ln xmlns:a="http://schemas.openxmlformats.org/drawingml/2006/main" w="0">
            <a:solidFill>
              <a:srgbClr val="2453A6"/>
            </a:solidFill>
            <a:prstDash val="solid"/>
          </a:ln>
        </p:spPr>
      </p:sp>
      <p:sp>
        <p:nvSpPr>
          <p:cNvPr id="14" name="slide-11-write-box-2">
            <a:extLst xmlns:a="http://schemas.openxmlformats.org/drawingml/2006/main">
              <a:ext uri="{FF2B5EF4-FFF2-40B4-BE49-F238E27FC236}">
                <a16:creationId xmlns:a16="http://schemas.microsoft.com/office/drawing/2014/main" id="{B36E21E7-0189-4729-AFFA-05D1617B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05125"/>
            <a:ext cx="2762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3A6"/>
            </a:solidFill>
            <a:prstDash val="solid"/>
          </a:ln>
        </p:spPr>
      </p:sp>
      <p:sp>
        <p:nvSpPr>
          <p:cNvPr id="15" name="slide-11-write-text-2">
            <a:extLst xmlns:a="http://schemas.openxmlformats.org/drawingml/2006/main">
              <a:ext uri="{FF2B5EF4-FFF2-40B4-BE49-F238E27FC236}">
                <a16:creationId xmlns:a16="http://schemas.microsoft.com/office/drawing/2014/main" id="{C250041B-00A1-4672-BF05-B891110F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00375"/>
            <a:ext cx="2533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ctr">
              <a:defRPr sz="1725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725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725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725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725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725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725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725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725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725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725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rPr>
              <a:t>Confirm guest / stay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rPr>
              <a:t>source + expiry</a:t>
            </a:r>
          </a:p>
        </p:txBody>
      </p:sp>
      <p:sp>
        <p:nvSpPr>
          <p:cNvPr id="16" name="slide-11-write-arrow-2">
            <a:extLst xmlns:a="http://schemas.openxmlformats.org/drawingml/2006/main">
              <a:ext uri="{FF2B5EF4-FFF2-40B4-BE49-F238E27FC236}">
                <a16:creationId xmlns:a16="http://schemas.microsoft.com/office/drawing/2014/main" id="{2D644BA2-1FC9-44A8-B8AB-35EA16A1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333750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53A6"/>
          </a:solidFill>
          <a:ln xmlns:a="http://schemas.openxmlformats.org/drawingml/2006/main" w="0">
            <a:solidFill>
              <a:srgbClr val="2453A6"/>
            </a:solidFill>
            <a:prstDash val="solid"/>
          </a:ln>
        </p:spPr>
      </p:sp>
      <p:sp>
        <p:nvSpPr>
          <p:cNvPr id="17" name="slide-11-write-box-3">
            <a:extLst xmlns:a="http://schemas.openxmlformats.org/drawingml/2006/main">
              <a:ext uri="{FF2B5EF4-FFF2-40B4-BE49-F238E27FC236}">
                <a16:creationId xmlns:a16="http://schemas.microsoft.com/office/drawing/2014/main" id="{DEA9BA1C-8AF1-4522-AEE0-26A346E2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905125"/>
            <a:ext cx="2762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3A6"/>
            </a:solidFill>
            <a:prstDash val="solid"/>
          </a:ln>
        </p:spPr>
      </p:sp>
      <p:sp>
        <p:nvSpPr>
          <p:cNvPr id="18" name="slide-11-write-text-3">
            <a:extLst xmlns:a="http://schemas.openxmlformats.org/drawingml/2006/main">
              <a:ext uri="{FF2B5EF4-FFF2-40B4-BE49-F238E27FC236}">
                <a16:creationId xmlns:a16="http://schemas.microsoft.com/office/drawing/2014/main" id="{7B41DA81-B85A-479E-966A-130A36CF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3000375"/>
            <a:ext cx="2533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ctr">
              <a:defRPr sz="1725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725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725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725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725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725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725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725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725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725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725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rPr>
              <a:t>Mock-hotel profile API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rPr>
              <a:t>stay-scoped note</a:t>
            </a:r>
          </a:p>
        </p:txBody>
      </p:sp>
      <p:sp>
        <p:nvSpPr>
          <p:cNvPr id="19" name="slide-11-read-lane">
            <a:extLst xmlns:a="http://schemas.openxmlformats.org/drawingml/2006/main">
              <a:ext uri="{FF2B5EF4-FFF2-40B4-BE49-F238E27FC236}">
                <a16:creationId xmlns:a16="http://schemas.microsoft.com/office/drawing/2014/main" id="{A1D6D9F0-F647-4490-9A81-C8B219EA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165735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DDE7"/>
            </a:solidFill>
            <a:prstDash val="solid"/>
          </a:ln>
        </p:spPr>
      </p:sp>
      <p:sp>
        <p:nvSpPr>
          <p:cNvPr id="20" name="slide-11-read-label">
            <a:extLst xmlns:a="http://schemas.openxmlformats.org/drawingml/2006/main">
              <a:ext uri="{FF2B5EF4-FFF2-40B4-BE49-F238E27FC236}">
                <a16:creationId xmlns:a16="http://schemas.microsoft.com/office/drawing/2014/main" id="{150ECC86-3814-4973-B486-AD47FF67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9700"/>
            <a:ext cx="1476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0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0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0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0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0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0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0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0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0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rPr>
              <a:t>LOUNGE RETRIEVAL PATH · PROPOSED ARCHITECTURE; PARTS ARE SIMULATED / IN SEPARATE DEMOS</a:t>
            </a:r>
          </a:p>
        </p:txBody>
      </p:sp>
      <p:sp>
        <p:nvSpPr>
          <p:cNvPr id="21" name="slide-11-read-box-0">
            <a:extLst xmlns:a="http://schemas.openxmlformats.org/drawingml/2006/main">
              <a:ext uri="{FF2B5EF4-FFF2-40B4-BE49-F238E27FC236}">
                <a16:creationId xmlns:a16="http://schemas.microsoft.com/office/drawing/2014/main" id="{BCBFD28A-73E6-47BB-B010-340D01EA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048375"/>
            <a:ext cx="2095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3F6FC"/>
          </a:solidFill>
          <a:ln xmlns:a="http://schemas.openxmlformats.org/drawingml/2006/main" w="19050">
            <a:solidFill>
              <a:srgbClr val="2453A6"/>
            </a:solidFill>
            <a:prstDash val="solid"/>
          </a:ln>
        </p:spPr>
      </p:sp>
      <p:sp>
        <p:nvSpPr>
          <p:cNvPr id="22" name="slide-11-read-text-0">
            <a:extLst xmlns:a="http://schemas.openxmlformats.org/drawingml/2006/main">
              <a:ext uri="{FF2B5EF4-FFF2-40B4-BE49-F238E27FC236}">
                <a16:creationId xmlns:a16="http://schemas.microsoft.com/office/drawing/2014/main" id="{370F9212-8A26-4D1A-8017-162F05C3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143625"/>
            <a:ext cx="1905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ctr"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rPr>
              <a:t>Entry tap</a:t>
            </a:r>
          </a:p>
        </p:txBody>
      </p:sp>
      <p:sp>
        <p:nvSpPr>
          <p:cNvPr id="23" name="slide-11-read-arrow-0">
            <a:extLst xmlns:a="http://schemas.openxmlformats.org/drawingml/2006/main">
              <a:ext uri="{FF2B5EF4-FFF2-40B4-BE49-F238E27FC236}">
                <a16:creationId xmlns:a16="http://schemas.microsoft.com/office/drawing/2014/main" id="{9BBA7117-F661-422A-9F23-8951D437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6477000"/>
            <a:ext cx="3524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53A6"/>
          </a:solidFill>
          <a:ln xmlns:a="http://schemas.openxmlformats.org/drawingml/2006/main" w="0">
            <a:solidFill>
              <a:srgbClr val="2453A6"/>
            </a:solidFill>
            <a:prstDash val="solid"/>
          </a:ln>
        </p:spPr>
      </p:sp>
      <p:sp>
        <p:nvSpPr>
          <p:cNvPr id="24" name="slide-11-read-box-1">
            <a:extLst xmlns:a="http://schemas.openxmlformats.org/drawingml/2006/main">
              <a:ext uri="{FF2B5EF4-FFF2-40B4-BE49-F238E27FC236}">
                <a16:creationId xmlns:a16="http://schemas.microsoft.com/office/drawing/2014/main" id="{FA6CCA41-02C7-4250-9E36-8484B72F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048375"/>
            <a:ext cx="2095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3F6FC"/>
          </a:solidFill>
          <a:ln xmlns:a="http://schemas.openxmlformats.org/drawingml/2006/main" w="19050">
            <a:solidFill>
              <a:srgbClr val="2453A6"/>
            </a:solidFill>
            <a:prstDash val="solid"/>
          </a:ln>
        </p:spPr>
      </p:sp>
      <p:sp>
        <p:nvSpPr>
          <p:cNvPr id="25" name="slide-11-read-text-1">
            <a:extLst xmlns:a="http://schemas.openxmlformats.org/drawingml/2006/main">
              <a:ext uri="{FF2B5EF4-FFF2-40B4-BE49-F238E27FC236}">
                <a16:creationId xmlns:a16="http://schemas.microsoft.com/office/drawing/2014/main" id="{40B8FAE1-73E7-491B-91B4-67872A2B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143625"/>
            <a:ext cx="1905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ctr"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rPr>
              <a:t>Active lounge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rPr>
              <a:t>cohort</a:t>
            </a:r>
          </a:p>
        </p:txBody>
      </p:sp>
      <p:sp>
        <p:nvSpPr>
          <p:cNvPr id="26" name="slide-11-read-arrow-1">
            <a:extLst xmlns:a="http://schemas.openxmlformats.org/drawingml/2006/main">
              <a:ext uri="{FF2B5EF4-FFF2-40B4-BE49-F238E27FC236}">
                <a16:creationId xmlns:a16="http://schemas.microsoft.com/office/drawing/2014/main" id="{20768FF8-A906-4418-920D-6DF7E5D3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6477000"/>
            <a:ext cx="3524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53A6"/>
          </a:solidFill>
          <a:ln xmlns:a="http://schemas.openxmlformats.org/drawingml/2006/main" w="0">
            <a:solidFill>
              <a:srgbClr val="2453A6"/>
            </a:solidFill>
            <a:prstDash val="solid"/>
          </a:ln>
        </p:spPr>
      </p:sp>
      <p:sp>
        <p:nvSpPr>
          <p:cNvPr id="27" name="slide-11-read-box-2">
            <a:extLst xmlns:a="http://schemas.openxmlformats.org/drawingml/2006/main">
              <a:ext uri="{FF2B5EF4-FFF2-40B4-BE49-F238E27FC236}">
                <a16:creationId xmlns:a16="http://schemas.microsoft.com/office/drawing/2014/main" id="{2D334E97-AD32-4623-9D0F-C4CE3842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6048375"/>
            <a:ext cx="2095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3F6FC"/>
          </a:solidFill>
          <a:ln xmlns:a="http://schemas.openxmlformats.org/drawingml/2006/main" w="19050">
            <a:solidFill>
              <a:srgbClr val="2453A6"/>
            </a:solidFill>
            <a:prstDash val="solid"/>
          </a:ln>
        </p:spPr>
      </p:sp>
      <p:sp>
        <p:nvSpPr>
          <p:cNvPr id="28" name="slide-11-read-text-2">
            <a:extLst xmlns:a="http://schemas.openxmlformats.org/drawingml/2006/main">
              <a:ext uri="{FF2B5EF4-FFF2-40B4-BE49-F238E27FC236}">
                <a16:creationId xmlns:a16="http://schemas.microsoft.com/office/drawing/2014/main" id="{65EDE6B3-2BBF-4900-8168-1D185FBD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143625"/>
            <a:ext cx="1905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ctr"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rPr>
              <a:t>CV worker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rPr>
              <a:t>match</a:t>
            </a:r>
          </a:p>
        </p:txBody>
      </p:sp>
      <p:sp>
        <p:nvSpPr>
          <p:cNvPr id="29" name="slide-11-read-arrow-2">
            <a:extLst xmlns:a="http://schemas.openxmlformats.org/drawingml/2006/main">
              <a:ext uri="{FF2B5EF4-FFF2-40B4-BE49-F238E27FC236}">
                <a16:creationId xmlns:a16="http://schemas.microsoft.com/office/drawing/2014/main" id="{8A0FFF2E-400A-4703-BD05-DB00F158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77000"/>
            <a:ext cx="3524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53A6"/>
          </a:solidFill>
          <a:ln xmlns:a="http://schemas.openxmlformats.org/drawingml/2006/main" w="0">
            <a:solidFill>
              <a:srgbClr val="2453A6"/>
            </a:solidFill>
            <a:prstDash val="solid"/>
          </a:ln>
        </p:spPr>
      </p:sp>
      <p:sp>
        <p:nvSpPr>
          <p:cNvPr id="30" name="slide-11-read-box-3">
            <a:extLst xmlns:a="http://schemas.openxmlformats.org/drawingml/2006/main">
              <a:ext uri="{FF2B5EF4-FFF2-40B4-BE49-F238E27FC236}">
                <a16:creationId xmlns:a16="http://schemas.microsoft.com/office/drawing/2014/main" id="{67BC30DE-B087-4158-9F08-09DC31BD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048375"/>
            <a:ext cx="2095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3F6FC"/>
          </a:solidFill>
          <a:ln xmlns:a="http://schemas.openxmlformats.org/drawingml/2006/main" w="19050">
            <a:solidFill>
              <a:srgbClr val="2453A6"/>
            </a:solidFill>
            <a:prstDash val="solid"/>
          </a:ln>
        </p:spPr>
      </p:sp>
      <p:sp>
        <p:nvSpPr>
          <p:cNvPr id="31" name="slide-11-read-text-3">
            <a:extLst xmlns:a="http://schemas.openxmlformats.org/drawingml/2006/main">
              <a:ext uri="{FF2B5EF4-FFF2-40B4-BE49-F238E27FC236}">
                <a16:creationId xmlns:a16="http://schemas.microsoft.com/office/drawing/2014/main" id="{A5F818EC-9312-4577-A6BF-7AE9FD16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143625"/>
            <a:ext cx="1905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ctr"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rPr>
              <a:t>Lounge-control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rPr>
              <a:t>profile lookup</a:t>
            </a:r>
          </a:p>
        </p:txBody>
      </p:sp>
      <p:sp>
        <p:nvSpPr>
          <p:cNvPr id="32" name="slide-11-read-arrow-3">
            <a:extLst xmlns:a="http://schemas.openxmlformats.org/drawingml/2006/main">
              <a:ext uri="{FF2B5EF4-FFF2-40B4-BE49-F238E27FC236}">
                <a16:creationId xmlns:a16="http://schemas.microsoft.com/office/drawing/2014/main" id="{210DC61F-77B1-4340-AEC8-BCD83C53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3524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53A6"/>
          </a:solidFill>
          <a:ln xmlns:a="http://schemas.openxmlformats.org/drawingml/2006/main" w="0">
            <a:solidFill>
              <a:srgbClr val="2453A6"/>
            </a:solidFill>
            <a:prstDash val="solid"/>
          </a:ln>
        </p:spPr>
      </p:sp>
      <p:sp>
        <p:nvSpPr>
          <p:cNvPr id="33" name="slide-11-read-box-4">
            <a:extLst xmlns:a="http://schemas.openxmlformats.org/drawingml/2006/main">
              <a:ext uri="{FF2B5EF4-FFF2-40B4-BE49-F238E27FC236}">
                <a16:creationId xmlns:a16="http://schemas.microsoft.com/office/drawing/2014/main" id="{9BCE3CF6-2A11-46A2-B60A-02082264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048375"/>
            <a:ext cx="2095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3F6FC"/>
          </a:solidFill>
          <a:ln xmlns:a="http://schemas.openxmlformats.org/drawingml/2006/main" w="19050">
            <a:solidFill>
              <a:srgbClr val="2453A6"/>
            </a:solidFill>
            <a:prstDash val="solid"/>
          </a:ln>
        </p:spPr>
      </p:sp>
      <p:sp>
        <p:nvSpPr>
          <p:cNvPr id="34" name="slide-11-read-text-4">
            <a:extLst xmlns:a="http://schemas.openxmlformats.org/drawingml/2006/main">
              <a:ext uri="{FF2B5EF4-FFF2-40B4-BE49-F238E27FC236}">
                <a16:creationId xmlns:a16="http://schemas.microsoft.com/office/drawing/2014/main" id="{5EB1AE50-9EFB-4719-A5AC-A43A08BA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6143625"/>
            <a:ext cx="1905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ctr"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93F84"/>
                </a:solidFill>
                <a:latin typeface="Helvetica Neue"/>
                <a:ea typeface="Helvetica Neue"/>
                <a:cs typeface="Helvetica Neue"/>
              </a:rPr>
              <a:t>Phone bridge</a:t>
            </a:r>
          </a:p>
        </p:txBody>
      </p:sp>
      <p:sp>
        <p:nvSpPr>
          <p:cNvPr id="35" name="slide-11-read-arrow-4">
            <a:extLst xmlns:a="http://schemas.openxmlformats.org/drawingml/2006/main">
              <a:ext uri="{FF2B5EF4-FFF2-40B4-BE49-F238E27FC236}">
                <a16:creationId xmlns:a16="http://schemas.microsoft.com/office/drawing/2014/main" id="{3E4A3846-7A93-4C64-B2A7-CC55E437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6477000"/>
            <a:ext cx="3524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53A6"/>
          </a:solidFill>
          <a:ln xmlns:a="http://schemas.openxmlformats.org/drawingml/2006/main" w="0">
            <a:solidFill>
              <a:srgbClr val="2453A6"/>
            </a:solidFill>
            <a:prstDash val="solid"/>
          </a:ln>
        </p:spPr>
      </p:sp>
      <p:sp>
        <p:nvSpPr>
          <p:cNvPr id="36" name="slide-11-read-box-5">
            <a:extLst xmlns:a="http://schemas.openxmlformats.org/drawingml/2006/main">
              <a:ext uri="{FF2B5EF4-FFF2-40B4-BE49-F238E27FC236}">
                <a16:creationId xmlns:a16="http://schemas.microsoft.com/office/drawing/2014/main" id="{BEC0899A-A934-41FC-A22E-6303CCC9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6048375"/>
            <a:ext cx="2095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8EFFB"/>
          </a:solidFill>
          <a:ln xmlns:a="http://schemas.openxmlformats.org/drawingml/2006/main" w="19050">
            <a:solidFill>
              <a:srgbClr val="2453A6"/>
            </a:solidFill>
            <a:prstDash val="solid"/>
          </a:ln>
        </p:spPr>
      </p:sp>
      <p:sp>
        <p:nvSpPr>
          <p:cNvPr id="37" name="slide-11-read-text-5">
            <a:extLst xmlns:a="http://schemas.openxmlformats.org/drawingml/2006/main">
              <a:ext uri="{FF2B5EF4-FFF2-40B4-BE49-F238E27FC236}">
                <a16:creationId xmlns:a16="http://schemas.microsoft.com/office/drawing/2014/main" id="{4202602E-6706-4891-A427-BBDD27C4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6143625"/>
            <a:ext cx="1905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65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65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65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65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65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65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65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65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65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rPr>
              <a:t>Glasses cue</a:t>
            </a:r>
          </a:p>
        </p:txBody>
      </p:sp>
      <p:sp>
        <p:nvSpPr>
          <p:cNvPr id="38" name="slide-11-profile-link">
            <a:extLst xmlns:a="http://schemas.openxmlformats.org/drawingml/2006/main">
              <a:ext uri="{FF2B5EF4-FFF2-40B4-BE49-F238E27FC236}">
                <a16:creationId xmlns:a16="http://schemas.microsoft.com/office/drawing/2014/main" id="{0219A6FC-7830-4749-A8A7-6CC14612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38650"/>
            <a:ext cx="695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425" b="0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425" b="0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425" b="0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425" b="0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425" b="0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425" b="0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425" b="0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425" b="0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425" b="0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453A6"/>
                </a:solidFill>
                <a:latin typeface="Helvetica Neue"/>
                <a:ea typeface="Helvetica Neue"/>
                <a:cs typeface="Helvetica Neue"/>
              </a:rPr>
              <a:t>new note becomes available to the later lookup</a:t>
            </a:r>
          </a:p>
        </p:txBody>
      </p:sp>
      <p:sp>
        <p:nvSpPr>
          <p:cNvPr id="39" name="slide-11-rokid-separate">
            <a:extLst xmlns:a="http://schemas.openxmlformats.org/drawingml/2006/main">
              <a:ext uri="{FF2B5EF4-FFF2-40B4-BE49-F238E27FC236}">
                <a16:creationId xmlns:a16="http://schemas.microsoft.com/office/drawing/2014/main" id="{975240A0-F18B-4E96-94C4-253E4D44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572500"/>
            <a:ext cx="16573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7DDE7"/>
          </a:solidFill>
          <a:ln xmlns:a="http://schemas.openxmlformats.org/drawingml/2006/main" w="0">
            <a:solidFill>
              <a:srgbClr val="D7DDE7"/>
            </a:solidFill>
            <a:prstDash val="solid"/>
          </a:ln>
        </p:spPr>
      </p:sp>
      <p:sp>
        <p:nvSpPr>
          <p:cNvPr id="40" name="slide-11-rokid-copy">
            <a:extLst xmlns:a="http://schemas.openxmlformats.org/drawingml/2006/main">
              <a:ext uri="{FF2B5EF4-FFF2-40B4-BE49-F238E27FC236}">
                <a16:creationId xmlns:a16="http://schemas.microsoft.com/office/drawing/2014/main" id="{0495C3E0-2277-45FA-A8C5-3085581B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8677275"/>
            <a:ext cx="16002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ctr">
              <a:def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rPr>
              <a:t>SEPARATE ROKID DEMO: glasses image → Android app → laptop gallery match → name/status; not integrated with the hotel POC or preference capture.</a:t>
            </a:r>
          </a:p>
        </p:txBody>
      </p:sp>
    </p:spTree>
    <p:extLst>
      <p:ext uri="{BB962C8B-B14F-4D97-AF65-F5344CB8AC3E}">
        <p14:creationId xmlns:p14="http://schemas.microsoft.com/office/powerpoint/2010/main" val="19673379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AAA4E76B-5F71-4585-B416-D4AD6686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"/>
            <a:ext cx="1638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rPr>
              <a:t>ENGINEERING CHOICES AND LATENCY</a:t>
            </a:r>
          </a:p>
        </p:txBody>
      </p:sp>
      <p:sp>
        <p:nvSpPr>
          <p:cNvPr id="2" name="slide-12-subtitle">
            <a:extLst xmlns:a="http://schemas.openxmlformats.org/drawingml/2006/main">
              <a:ext uri="{FF2B5EF4-FFF2-40B4-BE49-F238E27FC236}">
                <a16:creationId xmlns:a16="http://schemas.microsoft.com/office/drawing/2014/main" id="{1FA9E407-15FF-4064-8121-246BC611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23975"/>
            <a:ext cx="1543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rPr>
              <a:t>Measure the complete service path; do not treat one component timing as end-to-end performance.</a:t>
            </a:r>
          </a:p>
        </p:txBody>
      </p:sp>
      <p:sp>
        <p:nvSpPr>
          <p:cNvPr id="3" name="slide-12-footer-rule">
            <a:extLst xmlns:a="http://schemas.openxmlformats.org/drawingml/2006/main">
              <a:ext uri="{FF2B5EF4-FFF2-40B4-BE49-F238E27FC236}">
                <a16:creationId xmlns:a16="http://schemas.microsoft.com/office/drawing/2014/main" id="{FACDE7AA-624A-4401-B602-6C748B1F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686925"/>
            <a:ext cx="1657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7"/>
          </a:solidFill>
          <a:ln xmlns:a="http://schemas.openxmlformats.org/drawingml/2006/main" w="0">
            <a:solidFill>
              <a:srgbClr val="D7DDE7"/>
            </a:solidFill>
            <a:prstDash val="solid"/>
          </a:ln>
        </p:spPr>
      </p:sp>
      <p:sp>
        <p:nvSpPr>
          <p:cNvPr id="4" name="slide-12-footer">
            <a:extLst xmlns:a="http://schemas.openxmlformats.org/drawingml/2006/main">
              <a:ext uri="{FF2B5EF4-FFF2-40B4-BE49-F238E27FC236}">
                <a16:creationId xmlns:a16="http://schemas.microsoft.com/office/drawing/2014/main" id="{81DF8F89-F960-448C-AF6B-7F994D0F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536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rPr>
              <a:t>CDE4301  |  HOTEL PERSONALISATION</a:t>
            </a:r>
          </a:p>
        </p:txBody>
      </p:sp>
      <p:sp>
        <p:nvSpPr>
          <p:cNvPr id="5" name="slide-12-page">
            <a:extLst xmlns:a="http://schemas.openxmlformats.org/drawingml/2006/main">
              <a:ext uri="{FF2B5EF4-FFF2-40B4-BE49-F238E27FC236}">
                <a16:creationId xmlns:a16="http://schemas.microsoft.com/office/drawing/2014/main" id="{7F704F0B-5B45-4B64-9EE4-8F5D7216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75360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6" name="slide-12-design-heading">
            <a:extLst xmlns:a="http://schemas.openxmlformats.org/drawingml/2006/main">
              <a:ext uri="{FF2B5EF4-FFF2-40B4-BE49-F238E27FC236}">
                <a16:creationId xmlns:a16="http://schemas.microsoft.com/office/drawing/2014/main" id="{163F3FBC-6C94-4153-A92A-14A80938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rPr>
              <a:t>DESIGN CHOICES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EABFBF-33AA-4218-B74B-C4E38D7F0238}"/>
              </a:ext>
            </a:extLst>
          </p:cNvPr>
          <p:cNvGraphicFramePr/>
          <p:nvPr/>
        </p:nvGraphicFramePr>
        <p:xfrm>
          <a:off xmlns:a="http://schemas.openxmlformats.org/drawingml/2006/main" x="952500" y="2571750"/>
          <a:ext xmlns:a="http://schemas.openxmlformats.org/drawingml/2006/main" cx="10001250" cy="5476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3667125"/>
                <a:gridCol w="4095750"/>
              </a:tblGrid>
              <a:tr h="1095375">
                <a:tc>
                  <a:txBody>
                    <a:bodyPr wrap="square" lIns="114300" tIns="66675" rIns="95250" bIns="66675"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DECISION</a:t>
                      </a:r>
                    </a:p>
                  </a:txBody>
                  <a:tcPr marL="91440" marR="91440" marT="45720" marB="45720" anchor="ctr">
                    <a:lnL w="14288">
                      <a:solidFill>
                        <a:srgbClr val="D7DDE7"/>
                      </a:solidFill>
                      <a:prstDash val="solid"/>
                    </a:lnL>
                    <a:lnR w="14288">
                      <a:solidFill>
                        <a:srgbClr val="D7DDE7"/>
                      </a:solidFill>
                      <a:prstDash val="solid"/>
                    </a:lnR>
                    <a:lnT w="14288">
                      <a:solidFill>
                        <a:srgbClr val="D7DDE7"/>
                      </a:solidFill>
                      <a:prstDash val="solid"/>
                    </a:lnT>
                    <a:lnB w="14288">
                      <a:solidFill>
                        <a:srgbClr val="D7DDE7"/>
                      </a:solidFill>
                      <a:prstDash val="solid"/>
                    </a:lnB>
                    <a:solidFill>
                      <a:srgbClr val="2453A6"/>
                    </a:solidFill>
                  </a:tcPr>
                </a:tc>
                <a:tc>
                  <a:txBody>
                    <a:bodyPr wrap="square" lIns="114300" tIns="66675" rIns="95250" bIns="66675"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STARTING CHOICE</a:t>
                      </a:r>
                    </a:p>
                  </a:txBody>
                  <a:tcPr marL="91440" marR="91440" marT="45720" marB="45720" anchor="ctr">
                    <a:lnR w="14288">
                      <a:solidFill>
                        <a:srgbClr val="D7DDE7"/>
                      </a:solidFill>
                      <a:prstDash val="solid"/>
                    </a:lnR>
                    <a:lnT w="14288">
                      <a:solidFill>
                        <a:srgbClr val="D7DDE7"/>
                      </a:solidFill>
                      <a:prstDash val="solid"/>
                    </a:lnT>
                    <a:lnB w="14288">
                      <a:solidFill>
                        <a:srgbClr val="D7DDE7"/>
                      </a:solidFill>
                      <a:prstDash val="solid"/>
                    </a:lnB>
                    <a:solidFill>
                      <a:srgbClr val="2453A6"/>
                    </a:solidFill>
                  </a:tcPr>
                </a:tc>
                <a:tc>
                  <a:txBody>
                    <a:bodyPr wrap="square" lIns="114300" tIns="66675" rIns="95250" bIns="66675">
                      <a:norm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TRADE-OFF TO TEST</a:t>
                      </a:r>
                    </a:p>
                  </a:txBody>
                  <a:tcPr marL="91440" marR="91440" marT="45720" marB="45720" anchor="ctr">
                    <a:lnR w="14288">
                      <a:solidFill>
                        <a:srgbClr val="D7DDE7"/>
                      </a:solidFill>
                      <a:prstDash val="solid"/>
                    </a:lnR>
                    <a:lnT w="14288">
                      <a:solidFill>
                        <a:srgbClr val="D7DDE7"/>
                      </a:solidFill>
                      <a:prstDash val="solid"/>
                    </a:lnT>
                    <a:lnB w="14288">
                      <a:solidFill>
                        <a:srgbClr val="D7DDE7"/>
                      </a:solidFill>
                      <a:prstDash val="solid"/>
                    </a:lnB>
                    <a:solidFill>
                      <a:srgbClr val="2453A6"/>
                    </a:solidFill>
                  </a:tcPr>
                </a:tc>
              </a:tr>
              <a:tr h="1095375">
                <a:tc>
                  <a:txBody>
                    <a:bodyPr wrap="square" lIns="114300" tIns="66675" rIns="95250" bIns="66675">
                      <a:norm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93F8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Capture</a:t>
                      </a:r>
                    </a:p>
                  </a:txBody>
                  <a:tcPr marL="91440" marR="91440" marT="45720" marB="45720" anchor="ctr">
                    <a:lnL w="14288">
                      <a:solidFill>
                        <a:srgbClr val="D7DDE7"/>
                      </a:solidFill>
                      <a:prstDash val="solid"/>
                    </a:lnL>
                    <a:lnR w="14288">
                      <a:solidFill>
                        <a:srgbClr val="D7DDE7"/>
                      </a:solidFill>
                      <a:prstDash val="solid"/>
                    </a:lnR>
                    <a:lnB w="14288">
                      <a:solidFill>
                        <a:srgbClr val="D7DD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66675" rIns="95250" bIns="66675">
                      <a:norm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634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Staff-triggered phone form + review</a:t>
                      </a:r>
                    </a:p>
                  </a:txBody>
                  <a:tcPr marL="91440" marR="91440" marT="45720" marB="45720" anchor="ctr">
                    <a:lnR w="14288">
                      <a:solidFill>
                        <a:srgbClr val="D7DDE7"/>
                      </a:solidFill>
                      <a:prstDash val="solid"/>
                    </a:lnR>
                    <a:lnB w="14288">
                      <a:solidFill>
                        <a:srgbClr val="D7DD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66675" rIns="95250" bIns="66675">
                      <a:norm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634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Adds a step; avoids passive recording</a:t>
                      </a:r>
                    </a:p>
                  </a:txBody>
                  <a:tcPr marL="91440" marR="91440" marT="45720" marB="45720" anchor="ctr">
                    <a:lnR w="14288">
                      <a:solidFill>
                        <a:srgbClr val="D7DDE7"/>
                      </a:solidFill>
                      <a:prstDash val="solid"/>
                    </a:lnR>
                    <a:lnB w="14288">
                      <a:solidFill>
                        <a:srgbClr val="D7DD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95375">
                <a:tc>
                  <a:txBody>
                    <a:bodyPr wrap="square" lIns="114300" tIns="66675" rIns="95250" bIns="66675">
                      <a:norm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93F8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Write-time association</a:t>
                      </a:r>
                    </a:p>
                  </a:txBody>
                  <a:tcPr marL="91440" marR="91440" marT="45720" marB="45720" anchor="ctr">
                    <a:lnL w="14288">
                      <a:solidFill>
                        <a:srgbClr val="D7DDE7"/>
                      </a:solidFill>
                      <a:prstDash val="solid"/>
                    </a:lnL>
                    <a:lnR w="14288">
                      <a:solidFill>
                        <a:srgbClr val="D7DDE7"/>
                      </a:solidFill>
                      <a:prstDash val="solid"/>
                    </a:lnR>
                    <a:lnB w="14288">
                      <a:solidFill>
                        <a:srgbClr val="D7DD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66675" rIns="95250" bIns="66675">
                      <a:norm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634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Select guest / current stay</a:t>
                      </a:r>
                    </a:p>
                  </a:txBody>
                  <a:tcPr marL="91440" marR="91440" marT="45720" marB="45720" anchor="ctr">
                    <a:lnR w="14288">
                      <a:solidFill>
                        <a:srgbClr val="D7DDE7"/>
                      </a:solidFill>
                      <a:prstDash val="solid"/>
                    </a:lnR>
                    <a:lnB w="14288">
                      <a:solidFill>
                        <a:srgbClr val="D7DD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66675" rIns="95250" bIns="66675">
                      <a:norm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634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Safer than saving from an uncertain face match</a:t>
                      </a:r>
                    </a:p>
                  </a:txBody>
                  <a:tcPr marL="91440" marR="91440" marT="45720" marB="45720" anchor="ctr">
                    <a:lnR w="14288">
                      <a:solidFill>
                        <a:srgbClr val="D7DDE7"/>
                      </a:solidFill>
                      <a:prstDash val="solid"/>
                    </a:lnR>
                    <a:lnB w="14288">
                      <a:solidFill>
                        <a:srgbClr val="D7DD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95375">
                <a:tc>
                  <a:txBody>
                    <a:bodyPr wrap="square" lIns="114300" tIns="66675" rIns="95250" bIns="66675">
                      <a:norm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93F8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Read-time association</a:t>
                      </a:r>
                    </a:p>
                  </a:txBody>
                  <a:tcPr marL="91440" marR="91440" marT="45720" marB="45720" anchor="ctr">
                    <a:lnL w="14288">
                      <a:solidFill>
                        <a:srgbClr val="D7DDE7"/>
                      </a:solidFill>
                      <a:prstDash val="solid"/>
                    </a:lnL>
                    <a:lnR w="14288">
                      <a:solidFill>
                        <a:srgbClr val="D7DDE7"/>
                      </a:solidFill>
                      <a:prstDash val="solid"/>
                    </a:lnR>
                    <a:lnB w="14288">
                      <a:solidFill>
                        <a:srgbClr val="D7DD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66675" rIns="95250" bIns="66675">
                      <a:norm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634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 a stable lounge match for the cue</a:t>
                      </a:r>
                    </a:p>
                  </a:txBody>
                  <a:tcPr marL="91440" marR="91440" marT="45720" marB="45720" anchor="ctr">
                    <a:lnR w="14288">
                      <a:solidFill>
                        <a:srgbClr val="D7DDE7"/>
                      </a:solidFill>
                      <a:prstDash val="solid"/>
                    </a:lnR>
                    <a:lnB w="14288">
                      <a:solidFill>
                        <a:srgbClr val="D7DD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66675" rIns="95250" bIns="66675">
                      <a:norm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634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False reveals, missed matches and consent need evaluation</a:t>
                      </a:r>
                    </a:p>
                  </a:txBody>
                  <a:tcPr marL="91440" marR="91440" marT="45720" marB="45720" anchor="ctr">
                    <a:lnR w="14288">
                      <a:solidFill>
                        <a:srgbClr val="D7DDE7"/>
                      </a:solidFill>
                      <a:prstDash val="solid"/>
                    </a:lnR>
                    <a:lnB w="14288">
                      <a:solidFill>
                        <a:srgbClr val="D7DD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95375">
                <a:tc>
                  <a:txBody>
                    <a:bodyPr wrap="square" lIns="114300" tIns="66675" rIns="95250" bIns="66675">
                      <a:norm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93F8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Record lifetime</a:t>
                      </a:r>
                    </a:p>
                  </a:txBody>
                  <a:tcPr marL="91440" marR="91440" marT="45720" marB="45720" anchor="ctr">
                    <a:lnL w="14288">
                      <a:solidFill>
                        <a:srgbClr val="D7DDE7"/>
                      </a:solidFill>
                      <a:prstDash val="solid"/>
                    </a:lnL>
                    <a:lnR w="14288">
                      <a:solidFill>
                        <a:srgbClr val="D7DDE7"/>
                      </a:solidFill>
                      <a:prstDash val="solid"/>
                    </a:lnR>
                    <a:lnB w="14288">
                      <a:solidFill>
                        <a:srgbClr val="D7DD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66675" rIns="95250" bIns="66675">
                      <a:norm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634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Stay-scoped note + source/time/expiry</a:t>
                      </a:r>
                    </a:p>
                  </a:txBody>
                  <a:tcPr marL="91440" marR="91440" marT="45720" marB="45720" anchor="ctr">
                    <a:lnR w="14288">
                      <a:solidFill>
                        <a:srgbClr val="D7DDE7"/>
                      </a:solidFill>
                      <a:prstDash val="solid"/>
                    </a:lnR>
                    <a:lnB w="14288">
                      <a:solidFill>
                        <a:srgbClr val="D7DD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66675" rIns="95250" bIns="66675">
                      <a:norm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634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Hotel must define access, correction and deletion rules</a:t>
                      </a:r>
                    </a:p>
                  </a:txBody>
                  <a:tcPr marL="91440" marR="91440" marT="45720" marB="45720" anchor="ctr">
                    <a:lnR w="14288">
                      <a:solidFill>
                        <a:srgbClr val="D7DDE7"/>
                      </a:solidFill>
                      <a:prstDash val="solid"/>
                    </a:lnR>
                    <a:lnB w="14288">
                      <a:solidFill>
                        <a:srgbClr val="D7DD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lide-12-measurement-panel">
            <a:extLst xmlns:a="http://schemas.openxmlformats.org/drawingml/2006/main">
              <a:ext uri="{FF2B5EF4-FFF2-40B4-BE49-F238E27FC236}">
                <a16:creationId xmlns:a16="http://schemas.microsoft.com/office/drawing/2014/main" id="{A7B9AC3F-BCBE-43B2-9FBE-E9F8A4DB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095500"/>
            <a:ext cx="6000750" cy="5953125"/>
          </a:xfrm>
          <a:prstGeom xmlns:a="http://schemas.openxmlformats.org/drawingml/2006/main" prst="roundRect">
            <a:avLst>
              <a:gd name="adj" fmla="val 12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3A6"/>
            </a:solidFill>
            <a:prstDash val="solid"/>
          </a:ln>
        </p:spPr>
      </p:sp>
      <p:sp>
        <p:nvSpPr>
          <p:cNvPr id="9" name="slide-12-measurement-title">
            <a:extLst xmlns:a="http://schemas.openxmlformats.org/drawingml/2006/main">
              <a:ext uri="{FF2B5EF4-FFF2-40B4-BE49-F238E27FC236}">
                <a16:creationId xmlns:a16="http://schemas.microsoft.com/office/drawing/2014/main" id="{694C75F9-ED80-47D7-8847-2EE5AFAE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333625"/>
            <a:ext cx="542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0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0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0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0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0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0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0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0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0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rPr>
              <a:t>STANDALONE ROKID DEMO</a:t>
            </a:r>
          </a:p>
        </p:txBody>
      </p:sp>
      <p:sp>
        <p:nvSpPr>
          <p:cNvPr id="10" name="slide-12-mean">
            <a:extLst xmlns:a="http://schemas.openxmlformats.org/drawingml/2006/main">
              <a:ext uri="{FF2B5EF4-FFF2-40B4-BE49-F238E27FC236}">
                <a16:creationId xmlns:a16="http://schemas.microsoft.com/office/drawing/2014/main" id="{B63C040F-3897-46E5-997C-7F5CB980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857500"/>
            <a:ext cx="542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ctr">
              <a:defRPr sz="510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510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510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510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510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510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510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510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510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510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510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rPr>
              <a:t>944 ms</a:t>
            </a:r>
          </a:p>
        </p:txBody>
      </p:sp>
      <p:sp>
        <p:nvSpPr>
          <p:cNvPr id="11" name="slide-12-mean-label">
            <a:extLst xmlns:a="http://schemas.openxmlformats.org/drawingml/2006/main">
              <a:ext uri="{FF2B5EF4-FFF2-40B4-BE49-F238E27FC236}">
                <a16:creationId xmlns:a16="http://schemas.microsoft.com/office/drawing/2014/main" id="{30F0C263-C119-49AD-8AD6-4F30F880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714750"/>
            <a:ext cx="542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ctr">
              <a:defRPr sz="1650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650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650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650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650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650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650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650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650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650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650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rPr>
              <a:t>mean capture-request → response</a:t>
            </a:r>
          </a:p>
        </p:txBody>
      </p:sp>
      <p:sp>
        <p:nvSpPr>
          <p:cNvPr id="12" name="slide-12-p95">
            <a:extLst xmlns:a="http://schemas.openxmlformats.org/drawingml/2006/main">
              <a:ext uri="{FF2B5EF4-FFF2-40B4-BE49-F238E27FC236}">
                <a16:creationId xmlns:a16="http://schemas.microsoft.com/office/drawing/2014/main" id="{A9FA2158-D114-4BD8-848F-3B5BADB8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295775"/>
            <a:ext cx="542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25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25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25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25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25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25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25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25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25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rPr>
              <a:t>p95  1,114 ms</a:t>
            </a:r>
          </a:p>
        </p:txBody>
      </p:sp>
      <p:sp>
        <p:nvSpPr>
          <p:cNvPr id="13" name="slide-12-bar-bg">
            <a:extLst xmlns:a="http://schemas.openxmlformats.org/drawingml/2006/main">
              <a:ext uri="{FF2B5EF4-FFF2-40B4-BE49-F238E27FC236}">
                <a16:creationId xmlns:a16="http://schemas.microsoft.com/office/drawing/2014/main" id="{68D0A57F-025A-42C9-933A-5EBD64EC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5143500"/>
            <a:ext cx="457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7"/>
          </a:solidFill>
          <a:ln xmlns:a="http://schemas.openxmlformats.org/drawingml/2006/main" w="0">
            <a:solidFill>
              <a:srgbClr val="D7DDE7"/>
            </a:solidFill>
            <a:prstDash val="solid"/>
          </a:ln>
        </p:spPr>
      </p:sp>
      <p:sp>
        <p:nvSpPr>
          <p:cNvPr id="14" name="slide-12-bar-capture">
            <a:extLst xmlns:a="http://schemas.openxmlformats.org/drawingml/2006/main">
              <a:ext uri="{FF2B5EF4-FFF2-40B4-BE49-F238E27FC236}">
                <a16:creationId xmlns:a16="http://schemas.microsoft.com/office/drawing/2014/main" id="{E41A93F4-CE0E-4D74-9CF3-69E4D964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5143500"/>
            <a:ext cx="3086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3A6"/>
          </a:solidFill>
          <a:ln xmlns:a="http://schemas.openxmlformats.org/drawingml/2006/main" w="0">
            <a:solidFill>
              <a:srgbClr val="2453A6"/>
            </a:solidFill>
            <a:prstDash val="solid"/>
          </a:ln>
        </p:spPr>
      </p:sp>
      <p:sp>
        <p:nvSpPr>
          <p:cNvPr id="15" name="slide-12-bar-network">
            <a:extLst xmlns:a="http://schemas.openxmlformats.org/drawingml/2006/main">
              <a:ext uri="{FF2B5EF4-FFF2-40B4-BE49-F238E27FC236}">
                <a16:creationId xmlns:a16="http://schemas.microsoft.com/office/drawing/2014/main" id="{05A91B7E-CA91-4F72-A7DC-A9A41695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5225" y="514350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B55"/>
          </a:solidFill>
          <a:ln xmlns:a="http://schemas.openxmlformats.org/drawingml/2006/main" w="0">
            <a:solidFill>
              <a:srgbClr val="2C6B55"/>
            </a:solidFill>
            <a:prstDash val="solid"/>
          </a:ln>
        </p:spPr>
      </p:sp>
      <p:sp>
        <p:nvSpPr>
          <p:cNvPr id="16" name="slide-12-bar-label">
            <a:extLst xmlns:a="http://schemas.openxmlformats.org/drawingml/2006/main">
              <a:ext uri="{FF2B5EF4-FFF2-40B4-BE49-F238E27FC236}">
                <a16:creationId xmlns:a16="http://schemas.microsoft.com/office/drawing/2014/main" id="{F42A8075-1B3B-4B43-B997-9C1C2023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5429250"/>
            <a:ext cx="5381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4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4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4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4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4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4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4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4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4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rPr>
              <a:t>637 ms capture/JPEG  +  307 ms upload/server/response</a:t>
            </a:r>
          </a:p>
        </p:txBody>
      </p:sp>
      <p:sp>
        <p:nvSpPr>
          <p:cNvPr id="17" name="slide-12-sample">
            <a:extLst xmlns:a="http://schemas.openxmlformats.org/drawingml/2006/main">
              <a:ext uri="{FF2B5EF4-FFF2-40B4-BE49-F238E27FC236}">
                <a16:creationId xmlns:a16="http://schemas.microsoft.com/office/drawing/2014/main" id="{8D6B3B4E-2A9D-4041-B89E-C2C7B099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124575"/>
            <a:ext cx="542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65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65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65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65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65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65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65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65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65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rPr>
              <a:t>30 requests · 11 contained a detected face</a:t>
            </a:r>
          </a:p>
        </p:txBody>
      </p:sp>
      <p:sp>
        <p:nvSpPr>
          <p:cNvPr id="18" name="slide-12-limits">
            <a:extLst xmlns:a="http://schemas.openxmlformats.org/drawingml/2006/main">
              <a:ext uri="{FF2B5EF4-FFF2-40B4-BE49-F238E27FC236}">
                <a16:creationId xmlns:a16="http://schemas.microsoft.com/office/drawing/2014/main" id="{65260709-02F1-42E5-B518-5E0A9AEB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705600"/>
            <a:ext cx="53816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4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4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4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4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4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4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4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4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4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rPr>
              <a:t>Excludes wait for the next 2-second capture and display rendering. Latency only—not recognition accuracy or integrated service performance.</a:t>
            </a:r>
          </a:p>
        </p:txBody>
      </p:sp>
      <p:sp>
        <p:nvSpPr>
          <p:cNvPr id="19" name="slide-12-bottom">
            <a:extLst xmlns:a="http://schemas.openxmlformats.org/drawingml/2006/main">
              <a:ext uri="{FF2B5EF4-FFF2-40B4-BE49-F238E27FC236}">
                <a16:creationId xmlns:a16="http://schemas.microsoft.com/office/drawing/2014/main" id="{CB27B90B-763A-4D17-B127-CE042E67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505825"/>
            <a:ext cx="1600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rPr>
              <a:t>Next test: time from staff trigger or capture timestamp to a usable cue rendered on the glasses.</a:t>
            </a:r>
          </a:p>
        </p:txBody>
      </p:sp>
    </p:spTree>
    <p:extLst>
      <p:ext uri="{BB962C8B-B14F-4D97-AF65-F5344CB8AC3E}">
        <p14:creationId xmlns:p14="http://schemas.microsoft.com/office/powerpoint/2010/main" val="13608411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lide-13-title">
            <a:extLst xmlns:a="http://schemas.openxmlformats.org/drawingml/2006/main">
              <a:ext uri="{FF2B5EF4-FFF2-40B4-BE49-F238E27FC236}">
                <a16:creationId xmlns:a16="http://schemas.microsoft.com/office/drawing/2014/main" id="{6AFA0B9C-FD12-41D0-B663-7A205C12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"/>
            <a:ext cx="1638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rPr>
              <a:t>TWO INTERFACE MOMENTS</a:t>
            </a:r>
          </a:p>
        </p:txBody>
      </p:sp>
      <p:sp>
        <p:nvSpPr>
          <p:cNvPr id="2" name="slide-13-subtitle">
            <a:extLst xmlns:a="http://schemas.openxmlformats.org/drawingml/2006/main">
              <a:ext uri="{FF2B5EF4-FFF2-40B4-BE49-F238E27FC236}">
                <a16:creationId xmlns:a16="http://schemas.microsoft.com/office/drawing/2014/main" id="{9D1F7B06-368B-4B47-8EB6-5E8B1FA4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23975"/>
            <a:ext cx="1543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rPr>
              <a:t>Keep capture reviewable and the later cue short enough to test in live service.</a:t>
            </a:r>
          </a:p>
        </p:txBody>
      </p:sp>
      <p:sp>
        <p:nvSpPr>
          <p:cNvPr id="3" name="slide-13-footer-rule">
            <a:extLst xmlns:a="http://schemas.openxmlformats.org/drawingml/2006/main">
              <a:ext uri="{FF2B5EF4-FFF2-40B4-BE49-F238E27FC236}">
                <a16:creationId xmlns:a16="http://schemas.microsoft.com/office/drawing/2014/main" id="{64482C29-2635-4F5E-8D1B-5F4A7FD2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686925"/>
            <a:ext cx="1657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7"/>
          </a:solidFill>
          <a:ln xmlns:a="http://schemas.openxmlformats.org/drawingml/2006/main" w="0">
            <a:solidFill>
              <a:srgbClr val="D7DDE7"/>
            </a:solidFill>
            <a:prstDash val="solid"/>
          </a:ln>
        </p:spPr>
      </p:sp>
      <p:sp>
        <p:nvSpPr>
          <p:cNvPr id="4" name="slide-13-footer">
            <a:extLst xmlns:a="http://schemas.openxmlformats.org/drawingml/2006/main">
              <a:ext uri="{FF2B5EF4-FFF2-40B4-BE49-F238E27FC236}">
                <a16:creationId xmlns:a16="http://schemas.microsoft.com/office/drawing/2014/main" id="{04A89224-063A-4F3E-BBFC-E2360F15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536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rPr>
              <a:t>CDE4301  |  HOTEL PERSONALISATION</a:t>
            </a:r>
          </a:p>
        </p:txBody>
      </p:sp>
      <p:sp>
        <p:nvSpPr>
          <p:cNvPr id="5" name="slide-13-page">
            <a:extLst xmlns:a="http://schemas.openxmlformats.org/drawingml/2006/main">
              <a:ext uri="{FF2B5EF4-FFF2-40B4-BE49-F238E27FC236}">
                <a16:creationId xmlns:a16="http://schemas.microsoft.com/office/drawing/2014/main" id="{59ED9F65-B707-4175-970D-E9123BD0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75360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6" name="slide-13-capture-label">
            <a:extLst xmlns:a="http://schemas.openxmlformats.org/drawingml/2006/main">
              <a:ext uri="{FF2B5EF4-FFF2-40B4-BE49-F238E27FC236}">
                <a16:creationId xmlns:a16="http://schemas.microsoft.com/office/drawing/2014/main" id="{5E783ADA-E856-48A0-8AAE-167B8F92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95500"/>
            <a:ext cx="714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rPr>
              <a:t>1 · CAPTURE + REVIEW · STAFF PHONE</a:t>
            </a:r>
          </a:p>
        </p:txBody>
      </p:sp>
      <p:sp>
        <p:nvSpPr>
          <p:cNvPr id="7" name="slide-13-retrieval-label">
            <a:extLst xmlns:a="http://schemas.openxmlformats.org/drawingml/2006/main">
              <a:ext uri="{FF2B5EF4-FFF2-40B4-BE49-F238E27FC236}">
                <a16:creationId xmlns:a16="http://schemas.microsoft.com/office/drawing/2014/main" id="{35C5A74B-EFCE-4BA4-9B87-3F032C70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95500"/>
            <a:ext cx="714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453A6"/>
                </a:solidFill>
                <a:latin typeface="Helvetica Neue"/>
                <a:ea typeface="Helvetica Neue"/>
                <a:cs typeface="Helvetica Neue"/>
              </a:rPr>
              <a:t>2 · LATER RETRIEVAL · GLASSES</a:t>
            </a:r>
          </a:p>
        </p:txBody>
      </p:sp>
      <p:sp>
        <p:nvSpPr>
          <p:cNvPr id="8" name="slide-13-phone-frame">
            <a:extLst xmlns:a="http://schemas.openxmlformats.org/drawingml/2006/main">
              <a:ext uri="{FF2B5EF4-FFF2-40B4-BE49-F238E27FC236}">
                <a16:creationId xmlns:a16="http://schemas.microsoft.com/office/drawing/2014/main" id="{F36292AA-E21B-4982-837F-F6442F70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14625"/>
            <a:ext cx="4953000" cy="504825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93F84"/>
            </a:solidFill>
            <a:prstDash val="solid"/>
          </a:ln>
        </p:spPr>
      </p:sp>
      <p:sp>
        <p:nvSpPr>
          <p:cNvPr id="9" name="slide-13-phone-header">
            <a:extLst xmlns:a="http://schemas.openxmlformats.org/drawingml/2006/main">
              <a:ext uri="{FF2B5EF4-FFF2-40B4-BE49-F238E27FC236}">
                <a16:creationId xmlns:a16="http://schemas.microsoft.com/office/drawing/2014/main" id="{AC900FFD-7C6F-4534-8A43-29A35AEC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14625"/>
            <a:ext cx="4953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2453A6"/>
          </a:solidFill>
          <a:ln xmlns:a="http://schemas.openxmlformats.org/drawingml/2006/main" w="0">
            <a:solidFill>
              <a:srgbClr val="2453A6"/>
            </a:solidFill>
            <a:prstDash val="solid"/>
          </a:ln>
        </p:spPr>
      </p:sp>
      <p:sp>
        <p:nvSpPr>
          <p:cNvPr id="10" name="slide-13-phone-header-text">
            <a:extLst xmlns:a="http://schemas.openxmlformats.org/drawingml/2006/main">
              <a:ext uri="{FF2B5EF4-FFF2-40B4-BE49-F238E27FC236}">
                <a16:creationId xmlns:a16="http://schemas.microsoft.com/office/drawing/2014/main" id="{C6F9135F-51C8-4860-AD2D-C78F94F7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19400"/>
            <a:ext cx="4343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NEW STAY NOTE</a:t>
            </a:r>
          </a:p>
        </p:txBody>
      </p:sp>
      <p:sp>
        <p:nvSpPr>
          <p:cNvPr id="11" name="slide-13-phone-guest">
            <a:extLst xmlns:a="http://schemas.openxmlformats.org/drawingml/2006/main">
              <a:ext uri="{FF2B5EF4-FFF2-40B4-BE49-F238E27FC236}">
                <a16:creationId xmlns:a16="http://schemas.microsoft.com/office/drawing/2014/main" id="{59B07710-559D-4BBB-BBD9-8F970D32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733800"/>
            <a:ext cx="4191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0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0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0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0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0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0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0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0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0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rPr>
              <a:t>Guest / current stay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26344A"/>
                </a:solidFill>
                <a:latin typeface="Helvetica Neue"/>
                <a:ea typeface="Helvetica Neue"/>
                <a:cs typeface="Helvetica Neue"/>
              </a:rPr>
              <a:t>Guest A · Lounge visit</a:t>
            </a:r>
          </a:p>
        </p:txBody>
      </p:sp>
      <p:sp>
        <p:nvSpPr>
          <p:cNvPr id="12" name="slide-13-phone-rule-1">
            <a:extLst xmlns:a="http://schemas.openxmlformats.org/drawingml/2006/main">
              <a:ext uri="{FF2B5EF4-FFF2-40B4-BE49-F238E27FC236}">
                <a16:creationId xmlns:a16="http://schemas.microsoft.com/office/drawing/2014/main" id="{FC28279D-C94E-4796-BC63-7B241877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667250"/>
            <a:ext cx="419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7"/>
          </a:solidFill>
          <a:ln xmlns:a="http://schemas.openxmlformats.org/drawingml/2006/main" w="0">
            <a:solidFill>
              <a:srgbClr val="D7DDE7"/>
            </a:solidFill>
            <a:prstDash val="solid"/>
          </a:ln>
        </p:spPr>
      </p:sp>
      <p:sp>
        <p:nvSpPr>
          <p:cNvPr id="13" name="slide-13-phone-note">
            <a:extLst xmlns:a="http://schemas.openxmlformats.org/drawingml/2006/main">
              <a:ext uri="{FF2B5EF4-FFF2-40B4-BE49-F238E27FC236}">
                <a16:creationId xmlns:a16="http://schemas.microsoft.com/office/drawing/2014/main" id="{7E2FDC0A-261E-4F65-AFF1-C98D908F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876800"/>
            <a:ext cx="4191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rPr>
              <a:t>Preference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rPr>
              <a:t>“Prefers oat milk”</a:t>
            </a:r>
          </a:p>
        </p:txBody>
      </p:sp>
      <p:sp>
        <p:nvSpPr>
          <p:cNvPr id="14" name="slide-13-phone-question">
            <a:extLst xmlns:a="http://schemas.openxmlformats.org/drawingml/2006/main">
              <a:ext uri="{FF2B5EF4-FFF2-40B4-BE49-F238E27FC236}">
                <a16:creationId xmlns:a16="http://schemas.microsoft.com/office/drawing/2014/main" id="{DC8F0BA7-2A9E-4FA4-8AA9-E7F942A7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04837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7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7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7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7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7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7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7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7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7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D6878"/>
                </a:solidFill>
                <a:latin typeface="Helvetica Neue"/>
                <a:ea typeface="Helvetica Neue"/>
                <a:cs typeface="Helvetica Neue"/>
              </a:rPr>
              <a:t>Save for this stay?</a:t>
            </a:r>
          </a:p>
        </p:txBody>
      </p:sp>
      <p:sp>
        <p:nvSpPr>
          <p:cNvPr id="15" name="slide-13-save">
            <a:extLst xmlns:a="http://schemas.openxmlformats.org/drawingml/2006/main">
              <a:ext uri="{FF2B5EF4-FFF2-40B4-BE49-F238E27FC236}">
                <a16:creationId xmlns:a16="http://schemas.microsoft.com/office/drawing/2014/main" id="{8474103A-8555-438B-980A-76974BA1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572250"/>
            <a:ext cx="1238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453A6"/>
          </a:solidFill>
          <a:ln xmlns:a="http://schemas.openxmlformats.org/drawingml/2006/main" w="0">
            <a:solidFill>
              <a:srgbClr val="2453A6"/>
            </a:solidFill>
            <a:prstDash val="solid"/>
          </a:ln>
        </p:spPr>
      </p:sp>
      <p:sp>
        <p:nvSpPr>
          <p:cNvPr id="16" name="slide-13-save-text">
            <a:extLst xmlns:a="http://schemas.openxmlformats.org/drawingml/2006/main">
              <a:ext uri="{FF2B5EF4-FFF2-40B4-BE49-F238E27FC236}">
                <a16:creationId xmlns:a16="http://schemas.microsoft.com/office/drawing/2014/main" id="{BFB04553-7E94-4510-871C-3F957644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6638925"/>
            <a:ext cx="1123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SAVE</a:t>
            </a:r>
          </a:p>
        </p:txBody>
      </p:sp>
      <p:sp>
        <p:nvSpPr>
          <p:cNvPr id="17" name="slide-13-edit">
            <a:extLst xmlns:a="http://schemas.openxmlformats.org/drawingml/2006/main">
              <a:ext uri="{FF2B5EF4-FFF2-40B4-BE49-F238E27FC236}">
                <a16:creationId xmlns:a16="http://schemas.microsoft.com/office/drawing/2014/main" id="{1229728C-F882-4D82-BAAA-919131F5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72250"/>
            <a:ext cx="1238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8EFFB"/>
          </a:solidFill>
          <a:ln xmlns:a="http://schemas.openxmlformats.org/drawingml/2006/main" w="19050">
            <a:solidFill>
              <a:srgbClr val="2453A6"/>
            </a:solidFill>
            <a:prstDash val="solid"/>
          </a:ln>
        </p:spPr>
      </p:sp>
      <p:sp>
        <p:nvSpPr>
          <p:cNvPr id="18" name="slide-13-edit-text">
            <a:extLst xmlns:a="http://schemas.openxmlformats.org/drawingml/2006/main">
              <a:ext uri="{FF2B5EF4-FFF2-40B4-BE49-F238E27FC236}">
                <a16:creationId xmlns:a16="http://schemas.microsoft.com/office/drawing/2014/main" id="{8373104A-9FD0-4A3D-B521-2E8AF939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6638925"/>
            <a:ext cx="1123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50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50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50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50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50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50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50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50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50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93F84"/>
                </a:solidFill>
                <a:latin typeface="Helvetica Neue"/>
                <a:ea typeface="Helvetica Neue"/>
                <a:cs typeface="Helvetica Neue"/>
              </a:rPr>
              <a:t>EDIT</a:t>
            </a:r>
          </a:p>
        </p:txBody>
      </p:sp>
      <p:sp>
        <p:nvSpPr>
          <p:cNvPr id="19" name="slide-13-decline">
            <a:extLst xmlns:a="http://schemas.openxmlformats.org/drawingml/2006/main">
              <a:ext uri="{FF2B5EF4-FFF2-40B4-BE49-F238E27FC236}">
                <a16:creationId xmlns:a16="http://schemas.microsoft.com/office/drawing/2014/main" id="{0CD05668-868B-49EA-8F07-02C87ABB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572250"/>
            <a:ext cx="14859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DDE7"/>
            </a:solidFill>
            <a:prstDash val="solid"/>
          </a:ln>
        </p:spPr>
      </p:sp>
      <p:sp>
        <p:nvSpPr>
          <p:cNvPr id="20" name="slide-13-decline-text">
            <a:extLst xmlns:a="http://schemas.openxmlformats.org/drawingml/2006/main">
              <a:ext uri="{FF2B5EF4-FFF2-40B4-BE49-F238E27FC236}">
                <a16:creationId xmlns:a16="http://schemas.microsoft.com/office/drawing/2014/main" id="{75AF7742-DAC9-46DC-92C5-FA51CA9A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6638925"/>
            <a:ext cx="137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425" b="1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425" b="1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425" b="1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425" b="1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425" b="1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425" b="1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425" b="1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425" b="1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425" b="1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5D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D6878"/>
                </a:solidFill>
                <a:latin typeface="Helvetica Neue"/>
                <a:ea typeface="Helvetica Neue"/>
                <a:cs typeface="Helvetica Neue"/>
              </a:rPr>
              <a:t>DON'T SAVE</a:t>
            </a:r>
          </a:p>
        </p:txBody>
      </p:sp>
      <p:sp>
        <p:nvSpPr>
          <p:cNvPr id="21" name="slide-13-glasses-view">
            <a:extLst xmlns:a="http://schemas.openxmlformats.org/drawingml/2006/main">
              <a:ext uri="{FF2B5EF4-FFF2-40B4-BE49-F238E27FC236}">
                <a16:creationId xmlns:a16="http://schemas.microsoft.com/office/drawing/2014/main" id="{93792495-6D17-49CA-B5A1-0DE38774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095625"/>
            <a:ext cx="7524750" cy="3667125"/>
          </a:xfrm>
          <a:prstGeom xmlns:a="http://schemas.openxmlformats.org/drawingml/2006/main" prst="roundRect">
            <a:avLst>
              <a:gd name="adj" fmla="val 2078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19050">
            <a:solidFill>
              <a:srgbClr val="101722"/>
            </a:solidFill>
            <a:prstDash val="solid"/>
          </a:ln>
        </p:spPr>
      </p:sp>
      <p:sp>
        <p:nvSpPr>
          <p:cNvPr id="22" name="slide-13-glasses-guest">
            <a:extLst xmlns:a="http://schemas.openxmlformats.org/drawingml/2006/main">
              <a:ext uri="{FF2B5EF4-FFF2-40B4-BE49-F238E27FC236}">
                <a16:creationId xmlns:a16="http://schemas.microsoft.com/office/drawing/2014/main" id="{CA3BABAB-7120-4507-B252-9612025F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657600"/>
            <a:ext cx="609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ctr">
              <a:defRPr sz="27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27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27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27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27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27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27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27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27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27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7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GUEST A</a:t>
            </a:r>
          </a:p>
        </p:txBody>
      </p:sp>
      <p:sp>
        <p:nvSpPr>
          <p:cNvPr id="23" name="slide-13-glasses-rule">
            <a:extLst xmlns:a="http://schemas.openxmlformats.org/drawingml/2006/main">
              <a:ext uri="{FF2B5EF4-FFF2-40B4-BE49-F238E27FC236}">
                <a16:creationId xmlns:a16="http://schemas.microsoft.com/office/drawing/2014/main" id="{D16E3960-51ED-4073-850F-7380AABE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543425"/>
            <a:ext cx="514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3A6"/>
          </a:solidFill>
          <a:ln xmlns:a="http://schemas.openxmlformats.org/drawingml/2006/main" w="0">
            <a:solidFill>
              <a:srgbClr val="2453A6"/>
            </a:solidFill>
            <a:prstDash val="solid"/>
          </a:ln>
        </p:spPr>
      </p:sp>
      <p:sp>
        <p:nvSpPr>
          <p:cNvPr id="24" name="slide-13-glasses-preference">
            <a:extLst xmlns:a="http://schemas.openxmlformats.org/drawingml/2006/main">
              <a:ext uri="{FF2B5EF4-FFF2-40B4-BE49-F238E27FC236}">
                <a16:creationId xmlns:a16="http://schemas.microsoft.com/office/drawing/2014/main" id="{48FD911B-90A0-4380-A539-64E18294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10125"/>
            <a:ext cx="647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ctr">
              <a:defRPr sz="2850" b="1">
                <a:solidFill>
                  <a:srgbClr val="C7DC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2850" b="1">
                <a:solidFill>
                  <a:srgbClr val="C7DCFF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2850" b="1">
                <a:solidFill>
                  <a:srgbClr val="C7DCFF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2850" b="1">
                <a:solidFill>
                  <a:srgbClr val="C7DCFF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2850" b="1">
                <a:solidFill>
                  <a:srgbClr val="C7DCFF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2850" b="1">
                <a:solidFill>
                  <a:srgbClr val="C7DCFF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2850" b="1">
                <a:solidFill>
                  <a:srgbClr val="C7DCFF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2850" b="1">
                <a:solidFill>
                  <a:srgbClr val="C7DCFF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2850" b="1">
                <a:solidFill>
                  <a:srgbClr val="C7DCFF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2850" b="1">
                <a:solidFill>
                  <a:srgbClr val="C7DC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850" b="1">
                <a:solidFill>
                  <a:srgbClr val="C7D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C7DCFF"/>
                </a:solidFill>
                <a:latin typeface="Helvetica Neue"/>
                <a:ea typeface="Helvetica Neue"/>
                <a:cs typeface="Helvetica Neue"/>
              </a:rPr>
              <a:t>PREFERS OAT MILK</a:t>
            </a:r>
          </a:p>
        </p:txBody>
      </p:sp>
      <p:sp>
        <p:nvSpPr>
          <p:cNvPr id="25" name="slide-13-glasses-prompt">
            <a:extLst xmlns:a="http://schemas.openxmlformats.org/drawingml/2006/main">
              <a:ext uri="{FF2B5EF4-FFF2-40B4-BE49-F238E27FC236}">
                <a16:creationId xmlns:a16="http://schemas.microsoft.com/office/drawing/2014/main" id="{BE3BE687-7FD0-4E68-8B36-48F7A3EE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715000"/>
            <a:ext cx="609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ctr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Confirm it still applies</a:t>
            </a:r>
          </a:p>
        </p:txBody>
      </p:sp>
      <p:sp>
        <p:nvSpPr>
          <p:cNvPr id="26" name="slide-13-uncertain">
            <a:extLst xmlns:a="http://schemas.openxmlformats.org/drawingml/2006/main">
              <a:ext uri="{FF2B5EF4-FFF2-40B4-BE49-F238E27FC236}">
                <a16:creationId xmlns:a16="http://schemas.microsoft.com/office/drawing/2014/main" id="{D45D9A53-7AE2-4B64-8204-36F7EF70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7086600"/>
            <a:ext cx="790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5E2"/>
          </a:solidFill>
          <a:ln xmlns:a="http://schemas.openxmlformats.org/drawingml/2006/main" w="19050">
            <a:solidFill>
              <a:srgbClr val="98620A"/>
            </a:solidFill>
            <a:prstDash val="solid"/>
          </a:ln>
        </p:spPr>
      </p:sp>
      <p:sp>
        <p:nvSpPr>
          <p:cNvPr id="27" name="slide-13-uncertain-text">
            <a:extLst xmlns:a="http://schemas.openxmlformats.org/drawingml/2006/main">
              <a:ext uri="{FF2B5EF4-FFF2-40B4-BE49-F238E27FC236}">
                <a16:creationId xmlns:a16="http://schemas.microsoft.com/office/drawing/2014/main" id="{B508A116-058B-4C13-9BF4-438C9F97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181850"/>
            <a:ext cx="7524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98620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575" b="1">
                <a:solidFill>
                  <a:srgbClr val="98620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575" b="1">
                <a:solidFill>
                  <a:srgbClr val="98620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575" b="1">
                <a:solidFill>
                  <a:srgbClr val="98620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575" b="1">
                <a:solidFill>
                  <a:srgbClr val="98620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575" b="1">
                <a:solidFill>
                  <a:srgbClr val="98620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575" b="1">
                <a:solidFill>
                  <a:srgbClr val="98620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575" b="1">
                <a:solidFill>
                  <a:srgbClr val="98620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575" b="1">
                <a:solidFill>
                  <a:srgbClr val="98620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575" b="1">
                <a:solidFill>
                  <a:srgbClr val="98620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9862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98620A"/>
                </a:solidFill>
                <a:latin typeface="Helvetica Neue"/>
                <a:ea typeface="Helvetica Neue"/>
                <a:cs typeface="Helvetica Neue"/>
              </a:rPr>
              <a:t>UNCERTAIN MATCH → show no guest-specific detail; use staff lookup.</a:t>
            </a:r>
          </a:p>
        </p:txBody>
      </p:sp>
      <p:sp>
        <p:nvSpPr>
          <p:cNvPr id="28" name="slide-13-allergy">
            <a:extLst xmlns:a="http://schemas.openxmlformats.org/drawingml/2006/main">
              <a:ext uri="{FF2B5EF4-FFF2-40B4-BE49-F238E27FC236}">
                <a16:creationId xmlns:a16="http://schemas.microsoft.com/office/drawing/2014/main" id="{F8EFFE27-6462-4D26-A53D-594366F9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143875"/>
            <a:ext cx="16192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CEDEE"/>
          </a:solidFill>
          <a:ln xmlns:a="http://schemas.openxmlformats.org/drawingml/2006/main" w="19050">
            <a:solidFill>
              <a:srgbClr val="A12D36"/>
            </a:solidFill>
            <a:prstDash val="solid"/>
          </a:ln>
        </p:spPr>
      </p:sp>
      <p:sp>
        <p:nvSpPr>
          <p:cNvPr id="29" name="slide-13-allergy-text">
            <a:extLst xmlns:a="http://schemas.openxmlformats.org/drawingml/2006/main">
              <a:ext uri="{FF2B5EF4-FFF2-40B4-BE49-F238E27FC236}">
                <a16:creationId xmlns:a16="http://schemas.microsoft.com/office/drawing/2014/main" id="{05B8A9D4-191A-4882-9667-F96F8C70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8258175"/>
            <a:ext cx="15621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28575" rIns="57150" bIns="28575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A12D36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650" b="1">
                <a:solidFill>
                  <a:srgbClr val="A12D36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650" b="1">
                <a:solidFill>
                  <a:srgbClr val="A12D36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650" b="1">
                <a:solidFill>
                  <a:srgbClr val="A12D36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650" b="1">
                <a:solidFill>
                  <a:srgbClr val="A12D36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650" b="1">
                <a:solidFill>
                  <a:srgbClr val="A12D36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650" b="1">
                <a:solidFill>
                  <a:srgbClr val="A12D36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650" b="1">
                <a:solidFill>
                  <a:srgbClr val="A12D36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650" b="1">
                <a:solidFill>
                  <a:srgbClr val="A12D36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650" b="1">
                <a:solidFill>
                  <a:srgbClr val="A12D3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A12D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A12D36"/>
                </a:solidFill>
                <a:latin typeface="Helvetica Neue"/>
                <a:ea typeface="Helvetica Neue"/>
                <a:cs typeface="Helvetica Neue"/>
              </a:rPr>
              <a:t>ALLERGY CUE: explicit words + warning symbol, then verify in the authorised food-safety source.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A12D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A12D36"/>
                </a:solidFill>
                <a:latin typeface="Helvetica Neue"/>
                <a:ea typeface="Helvetica Neue"/>
                <a:cs typeface="Helvetica Neue"/>
              </a:rPr>
              <a:t>A short, glanceable cue is a design hypothesis—not proof of readability or low distraction.</a:t>
            </a:r>
          </a:p>
        </p:txBody>
      </p:sp>
    </p:spTree>
    <p:extLst>
      <p:ext uri="{BB962C8B-B14F-4D97-AF65-F5344CB8AC3E}">
        <p14:creationId xmlns:p14="http://schemas.microsoft.com/office/powerpoint/2010/main" val="21193573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2026-10-30T02:30:41.2450000Z</dcterms:created>
  <dcterms:modified xsi:type="dcterms:W3CDTF">2026-10-30T02:30:41.2450000Z</dcterms:modified>
</coreProperties>
</file>